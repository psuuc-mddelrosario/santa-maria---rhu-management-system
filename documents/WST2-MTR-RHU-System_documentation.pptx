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6" r:id="rId39"/>
    <p:sldId id="277" r:id="rId40"/>
    <p:sldId id="278" r:id="rId41"/>
    <p:sldId id="279" r:id="rId42"/>
    <p:sldId id="280" r:id="rId43"/>
    <p:sldId id="281" r:id="rId44"/>
    <p:sldId id="282" r:id="rId45"/>
    <p:sldId id="283" r:id="rId46"/>
    <p:sldId id="284" r:id="rId47"/>
    <p:sldId id="285" r:id="rId48"/>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Open Sans Extra Bold" charset="1" panose="020B0906030804020204"/>
      <p:regular r:id="rId10"/>
    </p:embeddedFont>
    <p:embeddedFont>
      <p:font typeface="Open Sans Extra Bold Italics" charset="1" panose="020B0906030804020204"/>
      <p:regular r:id="rId11"/>
    </p:embeddedFont>
    <p:embeddedFont>
      <p:font typeface="Ansam" charset="1" panose="00000500000000000000"/>
      <p:regular r:id="rId12"/>
    </p:embeddedFont>
    <p:embeddedFont>
      <p:font typeface="Canva Sans" charset="1" panose="020B0503030501040103"/>
      <p:regular r:id="rId13"/>
    </p:embeddedFont>
    <p:embeddedFont>
      <p:font typeface="Canva Sans Bold" charset="1" panose="020B0803030501040103"/>
      <p:regular r:id="rId14"/>
    </p:embeddedFont>
    <p:embeddedFont>
      <p:font typeface="Canva Sans Italics" charset="1" panose="020B0503030501040103"/>
      <p:regular r:id="rId15"/>
    </p:embeddedFont>
    <p:embeddedFont>
      <p:font typeface="Canva Sans Bold Italics" charset="1" panose="020B0803030501040103"/>
      <p:regular r:id="rId16"/>
    </p:embeddedFont>
    <p:embeddedFont>
      <p:font typeface="Canva Sans Medium" charset="1" panose="020B0603030501040103"/>
      <p:regular r:id="rId17"/>
    </p:embeddedFont>
    <p:embeddedFont>
      <p:font typeface="Canva Sans Medium Italics" charset="1" panose="020B06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slides/slide1.xml" Type="http://schemas.openxmlformats.org/officeDocument/2006/relationships/slide"/><Relationship Id="rId2" Target="presProps.xml" Type="http://schemas.openxmlformats.org/officeDocument/2006/relationships/presProps"/><Relationship Id="rId20" Target="slides/slide2.xml" Type="http://schemas.openxmlformats.org/officeDocument/2006/relationships/slide"/><Relationship Id="rId21" Target="slides/slide3.xml" Type="http://schemas.openxmlformats.org/officeDocument/2006/relationships/slide"/><Relationship Id="rId22" Target="slides/slide4.xml" Type="http://schemas.openxmlformats.org/officeDocument/2006/relationships/slide"/><Relationship Id="rId23" Target="slides/slide5.xml" Type="http://schemas.openxmlformats.org/officeDocument/2006/relationships/slide"/><Relationship Id="rId24" Target="slides/slide6.xml" Type="http://schemas.openxmlformats.org/officeDocument/2006/relationships/slide"/><Relationship Id="rId25" Target="slides/slide7.xml" Type="http://schemas.openxmlformats.org/officeDocument/2006/relationships/slide"/><Relationship Id="rId26" Target="slides/slide8.xml" Type="http://schemas.openxmlformats.org/officeDocument/2006/relationships/slide"/><Relationship Id="rId27" Target="slides/slide9.xml" Type="http://schemas.openxmlformats.org/officeDocument/2006/relationships/slide"/><Relationship Id="rId28" Target="slides/slide10.xml" Type="http://schemas.openxmlformats.org/officeDocument/2006/relationships/slide"/><Relationship Id="rId29" Target="slides/slide11.xml" Type="http://schemas.openxmlformats.org/officeDocument/2006/relationships/slide"/><Relationship Id="rId3" Target="viewProps.xml" Type="http://schemas.openxmlformats.org/officeDocument/2006/relationships/viewProps"/><Relationship Id="rId30" Target="slides/slide12.xml" Type="http://schemas.openxmlformats.org/officeDocument/2006/relationships/slide"/><Relationship Id="rId31" Target="slides/slide13.xml" Type="http://schemas.openxmlformats.org/officeDocument/2006/relationships/slide"/><Relationship Id="rId32" Target="slides/slide14.xml" Type="http://schemas.openxmlformats.org/officeDocument/2006/relationships/slide"/><Relationship Id="rId33" Target="slides/slide15.xml" Type="http://schemas.openxmlformats.org/officeDocument/2006/relationships/slide"/><Relationship Id="rId34" Target="slides/slide16.xml" Type="http://schemas.openxmlformats.org/officeDocument/2006/relationships/slide"/><Relationship Id="rId35" Target="slides/slide17.xml" Type="http://schemas.openxmlformats.org/officeDocument/2006/relationships/slide"/><Relationship Id="rId36" Target="slides/slide18.xml" Type="http://schemas.openxmlformats.org/officeDocument/2006/relationships/slide"/><Relationship Id="rId37" Target="slides/slide19.xml" Type="http://schemas.openxmlformats.org/officeDocument/2006/relationships/slide"/><Relationship Id="rId38" Target="slides/slide20.xml" Type="http://schemas.openxmlformats.org/officeDocument/2006/relationships/slide"/><Relationship Id="rId39" Target="slides/slide21.xml" Type="http://schemas.openxmlformats.org/officeDocument/2006/relationships/slide"/><Relationship Id="rId4" Target="theme/theme1.xml" Type="http://schemas.openxmlformats.org/officeDocument/2006/relationships/theme"/><Relationship Id="rId40" Target="slides/slide22.xml" Type="http://schemas.openxmlformats.org/officeDocument/2006/relationships/slide"/><Relationship Id="rId41" Target="slides/slide23.xml" Type="http://schemas.openxmlformats.org/officeDocument/2006/relationships/slide"/><Relationship Id="rId42" Target="slides/slide24.xml" Type="http://schemas.openxmlformats.org/officeDocument/2006/relationships/slide"/><Relationship Id="rId43" Target="slides/slide25.xml" Type="http://schemas.openxmlformats.org/officeDocument/2006/relationships/slide"/><Relationship Id="rId44" Target="slides/slide26.xml" Type="http://schemas.openxmlformats.org/officeDocument/2006/relationships/slide"/><Relationship Id="rId45" Target="slides/slide27.xml" Type="http://schemas.openxmlformats.org/officeDocument/2006/relationships/slide"/><Relationship Id="rId46" Target="slides/slide28.xml" Type="http://schemas.openxmlformats.org/officeDocument/2006/relationships/slide"/><Relationship Id="rId47" Target="slides/slide29.xml" Type="http://schemas.openxmlformats.org/officeDocument/2006/relationships/slide"/><Relationship Id="rId48" Target="slides/slide30.xml" Type="http://schemas.openxmlformats.org/officeDocument/2006/relationships/slid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https://lgustamaria-pangasinan.com/health/" TargetMode="External" Type="http://schemas.openxmlformats.org/officeDocument/2006/relationships/hyperlink"/></Relationships>
</file>

<file path=ppt/slides/slide1.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sp>
        <p:nvSpPr>
          <p:cNvPr name="TextBox 2" id="2"/>
          <p:cNvSpPr txBox="true"/>
          <p:nvPr/>
        </p:nvSpPr>
        <p:spPr>
          <a:xfrm rot="0">
            <a:off x="1525258" y="1546856"/>
            <a:ext cx="15237484" cy="3869208"/>
          </a:xfrm>
          <a:prstGeom prst="rect">
            <a:avLst/>
          </a:prstGeom>
        </p:spPr>
        <p:txBody>
          <a:bodyPr anchor="t" rtlCol="false" tIns="0" lIns="0" bIns="0" rIns="0">
            <a:spAutoFit/>
          </a:bodyPr>
          <a:lstStyle/>
          <a:p>
            <a:pPr algn="ctr">
              <a:lnSpc>
                <a:spcPts val="15206"/>
              </a:lnSpc>
            </a:pPr>
            <a:r>
              <a:rPr lang="en-US" sz="13222">
                <a:solidFill>
                  <a:srgbClr val="000000"/>
                </a:solidFill>
                <a:latin typeface="Ansam"/>
              </a:rPr>
              <a:t>RURAL HEALTH</a:t>
            </a:r>
          </a:p>
          <a:p>
            <a:pPr algn="ctr">
              <a:lnSpc>
                <a:spcPts val="15206"/>
              </a:lnSpc>
            </a:pPr>
            <a:r>
              <a:rPr lang="en-US" sz="13222">
                <a:solidFill>
                  <a:srgbClr val="000000"/>
                </a:solidFill>
                <a:latin typeface="Ansam"/>
              </a:rPr>
              <a:t>UNIT</a:t>
            </a:r>
          </a:p>
        </p:txBody>
      </p:sp>
      <p:sp>
        <p:nvSpPr>
          <p:cNvPr name="TextBox 3" id="3"/>
          <p:cNvSpPr txBox="true"/>
          <p:nvPr/>
        </p:nvSpPr>
        <p:spPr>
          <a:xfrm rot="0">
            <a:off x="2067048" y="4950772"/>
            <a:ext cx="14153904" cy="3964628"/>
          </a:xfrm>
          <a:prstGeom prst="rect">
            <a:avLst/>
          </a:prstGeom>
        </p:spPr>
        <p:txBody>
          <a:bodyPr anchor="t" rtlCol="false" tIns="0" lIns="0" bIns="0" rIns="0">
            <a:spAutoFit/>
          </a:bodyPr>
          <a:lstStyle/>
          <a:p>
            <a:pPr algn="ctr">
              <a:lnSpc>
                <a:spcPts val="15575"/>
              </a:lnSpc>
            </a:pPr>
            <a:r>
              <a:rPr lang="en-US" sz="13544">
                <a:solidFill>
                  <a:srgbClr val="596548"/>
                </a:solidFill>
                <a:latin typeface="Ansam"/>
              </a:rPr>
              <a:t> MANAGEMENT</a:t>
            </a:r>
          </a:p>
          <a:p>
            <a:pPr algn="ctr">
              <a:lnSpc>
                <a:spcPts val="15575"/>
              </a:lnSpc>
            </a:pPr>
            <a:r>
              <a:rPr lang="en-US" sz="13544">
                <a:solidFill>
                  <a:srgbClr val="596548"/>
                </a:solidFill>
                <a:latin typeface="Ansam"/>
              </a:rPr>
              <a:t>SYSTEM</a:t>
            </a:r>
          </a:p>
        </p:txBody>
      </p:sp>
      <p:sp>
        <p:nvSpPr>
          <p:cNvPr name="AutoShape 4" id="4"/>
          <p:cNvSpPr/>
          <p:nvPr/>
        </p:nvSpPr>
        <p:spPr>
          <a:xfrm>
            <a:off x="12025417" y="9239250"/>
            <a:ext cx="6262583" cy="0"/>
          </a:xfrm>
          <a:prstGeom prst="line">
            <a:avLst/>
          </a:prstGeom>
          <a:ln cap="flat" w="19050">
            <a:solidFill>
              <a:srgbClr val="596548"/>
            </a:solidFill>
            <a:prstDash val="solid"/>
            <a:headEnd type="none" len="sm" w="sm"/>
            <a:tailEnd type="none" len="sm" w="sm"/>
          </a:ln>
        </p:spPr>
      </p:sp>
      <p:sp>
        <p:nvSpPr>
          <p:cNvPr name="AutoShape 5" id="5"/>
          <p:cNvSpPr/>
          <p:nvPr/>
        </p:nvSpPr>
        <p:spPr>
          <a:xfrm>
            <a:off x="0" y="9248775"/>
            <a:ext cx="6262583" cy="0"/>
          </a:xfrm>
          <a:prstGeom prst="line">
            <a:avLst/>
          </a:prstGeom>
          <a:ln cap="flat" w="19050">
            <a:solidFill>
              <a:srgbClr val="596548"/>
            </a:solidFill>
            <a:prstDash val="solid"/>
            <a:headEnd type="none" len="sm" w="sm"/>
            <a:tailEnd type="none" len="sm" w="sm"/>
          </a:ln>
        </p:spPr>
      </p:sp>
      <p:sp>
        <p:nvSpPr>
          <p:cNvPr name="TextBox 6" id="6"/>
          <p:cNvSpPr txBox="true"/>
          <p:nvPr/>
        </p:nvSpPr>
        <p:spPr>
          <a:xfrm rot="0">
            <a:off x="3177413" y="696763"/>
            <a:ext cx="11933174" cy="478619"/>
          </a:xfrm>
          <a:prstGeom prst="rect">
            <a:avLst/>
          </a:prstGeom>
        </p:spPr>
        <p:txBody>
          <a:bodyPr anchor="t" rtlCol="false" tIns="0" lIns="0" bIns="0" rIns="0">
            <a:spAutoFit/>
          </a:bodyPr>
          <a:lstStyle/>
          <a:p>
            <a:pPr algn="ctr">
              <a:lnSpc>
                <a:spcPts val="3878"/>
              </a:lnSpc>
              <a:spcBef>
                <a:spcPct val="0"/>
              </a:spcBef>
            </a:pPr>
            <a:r>
              <a:rPr lang="en-US" sz="3373">
                <a:solidFill>
                  <a:srgbClr val="000000"/>
                </a:solidFill>
                <a:latin typeface="Ansam"/>
              </a:rPr>
              <a:t>ELECTIVE 1 (WEB SYSTEMS AND TECHNOLOGIES 2)</a:t>
            </a:r>
          </a:p>
        </p:txBody>
      </p:sp>
      <p:sp>
        <p:nvSpPr>
          <p:cNvPr name="TextBox 7" id="7"/>
          <p:cNvSpPr txBox="true"/>
          <p:nvPr/>
        </p:nvSpPr>
        <p:spPr>
          <a:xfrm rot="0">
            <a:off x="9144000" y="9505950"/>
            <a:ext cx="8999458" cy="554750"/>
          </a:xfrm>
          <a:prstGeom prst="rect">
            <a:avLst/>
          </a:prstGeom>
        </p:spPr>
        <p:txBody>
          <a:bodyPr anchor="t" rtlCol="false" tIns="0" lIns="0" bIns="0" rIns="0">
            <a:spAutoFit/>
          </a:bodyPr>
          <a:lstStyle/>
          <a:p>
            <a:pPr algn="ctr">
              <a:lnSpc>
                <a:spcPts val="4598"/>
              </a:lnSpc>
            </a:pPr>
            <a:r>
              <a:rPr lang="en-US" sz="3284">
                <a:solidFill>
                  <a:srgbClr val="000000"/>
                </a:solidFill>
                <a:latin typeface="Canva Sans"/>
              </a:rPr>
              <a:t>Marie Del Rosario &amp; Menard Dane Macabulos</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795074" y="642385"/>
            <a:ext cx="12697852" cy="1304455"/>
          </a:xfrm>
          <a:prstGeom prst="rect">
            <a:avLst/>
          </a:prstGeom>
        </p:spPr>
        <p:txBody>
          <a:bodyPr anchor="t" rtlCol="false" tIns="0" lIns="0" bIns="0" rIns="0">
            <a:spAutoFit/>
          </a:bodyPr>
          <a:lstStyle/>
          <a:p>
            <a:pPr algn="ctr">
              <a:lnSpc>
                <a:spcPts val="10264"/>
              </a:lnSpc>
            </a:pPr>
            <a:r>
              <a:rPr lang="en-US" sz="8926">
                <a:solidFill>
                  <a:srgbClr val="000000"/>
                </a:solidFill>
                <a:latin typeface="Ansam"/>
              </a:rPr>
              <a:t>ABSTRACT</a:t>
            </a:r>
          </a:p>
        </p:txBody>
      </p:sp>
      <p:sp>
        <p:nvSpPr>
          <p:cNvPr name="TextBox 6" id="6"/>
          <p:cNvSpPr txBox="true"/>
          <p:nvPr/>
        </p:nvSpPr>
        <p:spPr>
          <a:xfrm rot="0">
            <a:off x="1325344" y="3490456"/>
            <a:ext cx="15410238" cy="4233754"/>
          </a:xfrm>
          <a:prstGeom prst="rect">
            <a:avLst/>
          </a:prstGeom>
        </p:spPr>
        <p:txBody>
          <a:bodyPr anchor="t" rtlCol="false" tIns="0" lIns="0" bIns="0" rIns="0">
            <a:spAutoFit/>
          </a:bodyPr>
          <a:lstStyle/>
          <a:p>
            <a:pPr algn="ctr">
              <a:lnSpc>
                <a:spcPts val="3705"/>
              </a:lnSpc>
              <a:spcBef>
                <a:spcPct val="0"/>
              </a:spcBef>
            </a:pPr>
            <a:r>
              <a:rPr lang="en-US" sz="3221">
                <a:solidFill>
                  <a:srgbClr val="000000"/>
                </a:solidFill>
                <a:latin typeface="Ansam"/>
              </a:rPr>
              <a:t>This study endeavors to develop a comprehensive Rural Health Unit Management System is modified to meet the specific needs and challenges faced by healthcare facilities in rural areas. The focus lies on database design, derived directly from the requirements analysis phase, aiming to automate various administrative and clinical processes within the rural health unit. The study adopts Rapid Application Development (RAD) as the system's development life cycle methodology to ensure efficient and iterative development. The system aims to streamline operations, enhance patient care, and optimize resource management within rural health units.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0" y="465371"/>
            <a:ext cx="18808073" cy="1164757"/>
          </a:xfrm>
          <a:prstGeom prst="rect">
            <a:avLst/>
          </a:prstGeom>
        </p:spPr>
        <p:txBody>
          <a:bodyPr anchor="t" rtlCol="false" tIns="0" lIns="0" bIns="0" rIns="0">
            <a:spAutoFit/>
          </a:bodyPr>
          <a:lstStyle/>
          <a:p>
            <a:pPr algn="ctr">
              <a:lnSpc>
                <a:spcPts val="9115"/>
              </a:lnSpc>
            </a:pPr>
            <a:r>
              <a:rPr lang="en-US" sz="7926">
                <a:solidFill>
                  <a:srgbClr val="000000"/>
                </a:solidFill>
                <a:latin typeface="Ansam"/>
              </a:rPr>
              <a:t>BACKGROUND OF THE STUDY</a:t>
            </a:r>
          </a:p>
        </p:txBody>
      </p:sp>
      <p:sp>
        <p:nvSpPr>
          <p:cNvPr name="TextBox 6" id="6"/>
          <p:cNvSpPr txBox="true"/>
          <p:nvPr/>
        </p:nvSpPr>
        <p:spPr>
          <a:xfrm rot="0">
            <a:off x="2557989" y="2323188"/>
            <a:ext cx="12944947" cy="7102189"/>
          </a:xfrm>
          <a:prstGeom prst="rect">
            <a:avLst/>
          </a:prstGeom>
        </p:spPr>
        <p:txBody>
          <a:bodyPr anchor="t" rtlCol="false" tIns="0" lIns="0" bIns="0" rIns="0">
            <a:spAutoFit/>
          </a:bodyPr>
          <a:lstStyle/>
          <a:p>
            <a:pPr algn="ctr">
              <a:lnSpc>
                <a:spcPts val="3112"/>
              </a:lnSpc>
            </a:pPr>
            <a:r>
              <a:rPr lang="en-US" sz="2706">
                <a:solidFill>
                  <a:srgbClr val="000000"/>
                </a:solidFill>
                <a:latin typeface="Ansam"/>
              </a:rPr>
              <a:t>Rural areas often struggleto provide qualityhealthcare due to their remote locations, lack of infrastructure, and limited resources. In these places, Rural Health Units (RHUs) step in as primary healthcare providers, vital for addressing local health needs.</a:t>
            </a:r>
          </a:p>
          <a:p>
            <a:pPr algn="ctr">
              <a:lnSpc>
                <a:spcPts val="3112"/>
              </a:lnSpc>
            </a:pPr>
            <a:r>
              <a:rPr lang="en-US" sz="2706">
                <a:solidFill>
                  <a:srgbClr val="000000"/>
                </a:solidFill>
                <a:latin typeface="Ansam"/>
              </a:rPr>
              <a:t>However, managing RHUs efficiently is tough. They face challenges like complexpaperwork, stretched resources, and delivering quality care with limited means.</a:t>
            </a:r>
          </a:p>
          <a:p>
            <a:pPr algn="ctr">
              <a:lnSpc>
                <a:spcPts val="3112"/>
              </a:lnSpc>
            </a:pPr>
          </a:p>
          <a:p>
            <a:pPr algn="ctr">
              <a:lnSpc>
                <a:spcPts val="3112"/>
              </a:lnSpc>
            </a:pPr>
            <a:r>
              <a:rPr lang="en-US" sz="2706">
                <a:solidFill>
                  <a:srgbClr val="000000"/>
                </a:solidFill>
                <a:latin typeface="Ansam"/>
              </a:rPr>
              <a:t>Many RHUs still rely on old-fashioned paper systems, leadingto mistakes and data management headaches. This calls for modern solutions to streamline operations, make better use of resources, and improve healthcare quality.</a:t>
            </a:r>
          </a:p>
          <a:p>
            <a:pPr algn="ctr">
              <a:lnSpc>
                <a:spcPts val="3112"/>
              </a:lnSpc>
            </a:pPr>
          </a:p>
          <a:p>
            <a:pPr algn="ctr">
              <a:lnSpc>
                <a:spcPts val="3112"/>
              </a:lnSpc>
            </a:pPr>
            <a:r>
              <a:rPr lang="en-US" sz="2706">
                <a:solidFill>
                  <a:srgbClr val="000000"/>
                </a:solidFill>
                <a:latin typeface="Ansam"/>
              </a:rPr>
              <a:t>Technology offers a ray of hope. By creating tailored digital systems using databases and fast development methods, we can greatly improve how RHUs operate. This study aims to design and build a robust Rural Health Unit Management System.This system will automate tasks, help with decision-making, and make RHUs work better overall.</a:t>
            </a:r>
          </a:p>
          <a:p>
            <a:pPr algn="ctr">
              <a:lnSpc>
                <a:spcPts val="3112"/>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STATEMENT OF THE OBJECTIVES</a:t>
            </a:r>
          </a:p>
        </p:txBody>
      </p:sp>
      <p:sp>
        <p:nvSpPr>
          <p:cNvPr name="TextBox 6" id="6"/>
          <p:cNvSpPr txBox="true"/>
          <p:nvPr/>
        </p:nvSpPr>
        <p:spPr>
          <a:xfrm rot="0">
            <a:off x="956741" y="2202954"/>
            <a:ext cx="16147445" cy="6808756"/>
          </a:xfrm>
          <a:prstGeom prst="rect">
            <a:avLst/>
          </a:prstGeom>
        </p:spPr>
        <p:txBody>
          <a:bodyPr anchor="t" rtlCol="false" tIns="0" lIns="0" bIns="0" rIns="0">
            <a:spAutoFit/>
          </a:bodyPr>
          <a:lstStyle/>
          <a:p>
            <a:pPr algn="ctr">
              <a:lnSpc>
                <a:spcPts val="2336"/>
              </a:lnSpc>
            </a:pPr>
            <a:r>
              <a:rPr lang="en-US" sz="2031">
                <a:solidFill>
                  <a:srgbClr val="000000"/>
                </a:solidFill>
                <a:latin typeface="Ansam"/>
              </a:rPr>
              <a:t>This study aims to develop a Rural Health Unit Management System (RHUMS), with the following specific objectives:</a:t>
            </a:r>
          </a:p>
          <a:p>
            <a:pPr algn="ctr">
              <a:lnSpc>
                <a:spcPts val="2336"/>
              </a:lnSpc>
            </a:pPr>
          </a:p>
          <a:p>
            <a:pPr algn="ctr">
              <a:lnSpc>
                <a:spcPts val="2336"/>
              </a:lnSpc>
            </a:pPr>
            <a:r>
              <a:rPr lang="en-US" sz="2031">
                <a:solidFill>
                  <a:srgbClr val="000000"/>
                </a:solidFill>
                <a:latin typeface="Ansam"/>
              </a:rPr>
              <a:t>1. To identify the system's essential business rules, including:</a:t>
            </a:r>
          </a:p>
          <a:p>
            <a:pPr algn="ctr">
              <a:lnSpc>
                <a:spcPts val="2336"/>
              </a:lnSpc>
            </a:pPr>
          </a:p>
          <a:p>
            <a:pPr algn="ctr">
              <a:lnSpc>
                <a:spcPts val="2336"/>
              </a:lnSpc>
            </a:pPr>
            <a:r>
              <a:rPr lang="en-US" sz="2031">
                <a:solidFill>
                  <a:srgbClr val="000000"/>
                </a:solidFill>
                <a:latin typeface="Ansam"/>
              </a:rPr>
              <a:t>a.Rules governing patient management within the RHU</a:t>
            </a:r>
          </a:p>
          <a:p>
            <a:pPr algn="ctr">
              <a:lnSpc>
                <a:spcPts val="2336"/>
              </a:lnSpc>
            </a:pPr>
            <a:r>
              <a:rPr lang="en-US" sz="2031">
                <a:solidFill>
                  <a:srgbClr val="000000"/>
                </a:solidFill>
                <a:latin typeface="Ansam"/>
              </a:rPr>
              <a:t>b. Procedures for inventory and resource management</a:t>
            </a:r>
          </a:p>
          <a:p>
            <a:pPr algn="ctr">
              <a:lnSpc>
                <a:spcPts val="2336"/>
              </a:lnSpc>
            </a:pPr>
            <a:r>
              <a:rPr lang="en-US" sz="2031">
                <a:solidFill>
                  <a:srgbClr val="000000"/>
                </a:solidFill>
                <a:latin typeface="Ansam"/>
              </a:rPr>
              <a:t>c.Protocols for appointment scheduling and tracking</a:t>
            </a:r>
          </a:p>
          <a:p>
            <a:pPr algn="ctr">
              <a:lnSpc>
                <a:spcPts val="2336"/>
              </a:lnSpc>
            </a:pPr>
          </a:p>
          <a:p>
            <a:pPr algn="ctr">
              <a:lnSpc>
                <a:spcPts val="2336"/>
              </a:lnSpc>
            </a:pPr>
            <a:r>
              <a:rPr lang="en-US" sz="2031">
                <a:solidFill>
                  <a:srgbClr val="000000"/>
                </a:solidFill>
                <a:latin typeface="Ansam"/>
              </a:rPr>
              <a:t>2. To design the database architecture of the RHUMS, which involves:</a:t>
            </a:r>
          </a:p>
          <a:p>
            <a:pPr algn="ctr">
              <a:lnSpc>
                <a:spcPts val="2336"/>
              </a:lnSpc>
            </a:pPr>
          </a:p>
          <a:p>
            <a:pPr algn="ctr">
              <a:lnSpc>
                <a:spcPts val="2336"/>
              </a:lnSpc>
            </a:pPr>
            <a:r>
              <a:rPr lang="en-US" sz="2031">
                <a:solidFill>
                  <a:srgbClr val="000000"/>
                </a:solidFill>
                <a:latin typeface="Ansam"/>
              </a:rPr>
              <a:t>a. Creating Entity Relationship Diagrams (ERDs) for each functional module of the system</a:t>
            </a:r>
          </a:p>
          <a:p>
            <a:pPr algn="ctr">
              <a:lnSpc>
                <a:spcPts val="2336"/>
              </a:lnSpc>
            </a:pPr>
            <a:r>
              <a:rPr lang="en-US" sz="2031">
                <a:solidFill>
                  <a:srgbClr val="000000"/>
                </a:solidFill>
                <a:latin typeface="Ansam"/>
              </a:rPr>
              <a:t>b. Establishing an Integrated Entity Relationship Diagram (IERD) illustrating the interconnectedness of system components</a:t>
            </a:r>
          </a:p>
          <a:p>
            <a:pPr algn="ctr">
              <a:lnSpc>
                <a:spcPts val="2336"/>
              </a:lnSpc>
            </a:pPr>
            <a:r>
              <a:rPr lang="en-US" sz="2031">
                <a:solidFill>
                  <a:srgbClr val="000000"/>
                </a:solidFill>
                <a:latin typeface="Ansam"/>
              </a:rPr>
              <a:t>c. Compiling comprehensive data dictionaries outlining the attributes and relationships of database entities</a:t>
            </a:r>
          </a:p>
          <a:p>
            <a:pPr algn="ctr">
              <a:lnSpc>
                <a:spcPts val="2336"/>
              </a:lnSpc>
            </a:pPr>
            <a:r>
              <a:rPr lang="en-US" sz="2031">
                <a:solidFill>
                  <a:srgbClr val="000000"/>
                </a:solidFill>
                <a:latin typeface="Ansam"/>
              </a:rPr>
              <a:t>d. Configuring database instances to support real-time data processing and storage</a:t>
            </a:r>
          </a:p>
          <a:p>
            <a:pPr algn="ctr">
              <a:lnSpc>
                <a:spcPts val="2336"/>
              </a:lnSpc>
            </a:pPr>
          </a:p>
          <a:p>
            <a:pPr algn="ctr">
              <a:lnSpc>
                <a:spcPts val="2336"/>
              </a:lnSpc>
            </a:pPr>
            <a:r>
              <a:rPr lang="en-US" sz="2031">
                <a:solidFill>
                  <a:srgbClr val="000000"/>
                </a:solidFill>
                <a:latin typeface="Ansam"/>
              </a:rPr>
              <a:t>3. To describe the features and functionalities of the RHUMS, highlighting its capabilities in addressing the specific needs of rural healthcare settings. This includes:</a:t>
            </a:r>
          </a:p>
          <a:p>
            <a:pPr algn="ctr">
              <a:lnSpc>
                <a:spcPts val="2336"/>
              </a:lnSpc>
            </a:pPr>
          </a:p>
          <a:p>
            <a:pPr algn="ctr">
              <a:lnSpc>
                <a:spcPts val="2336"/>
              </a:lnSpc>
            </a:pPr>
            <a:r>
              <a:rPr lang="en-US" sz="2031">
                <a:solidFill>
                  <a:srgbClr val="000000"/>
                </a:solidFill>
                <a:latin typeface="Ansam"/>
              </a:rPr>
              <a:t>a. Patient record management and tracking</a:t>
            </a:r>
          </a:p>
          <a:p>
            <a:pPr algn="ctr">
              <a:lnSpc>
                <a:spcPts val="2336"/>
              </a:lnSpc>
            </a:pPr>
            <a:r>
              <a:rPr lang="en-US" sz="2031">
                <a:solidFill>
                  <a:srgbClr val="000000"/>
                </a:solidFill>
                <a:latin typeface="Ansam"/>
              </a:rPr>
              <a:t>b. Inventory and resource management for medical supplies and equipment</a:t>
            </a:r>
          </a:p>
          <a:p>
            <a:pPr algn="ctr">
              <a:lnSpc>
                <a:spcPts val="2336"/>
              </a:lnSpc>
            </a:pPr>
            <a:r>
              <a:rPr lang="en-US" sz="2031">
                <a:solidFill>
                  <a:srgbClr val="000000"/>
                </a:solidFill>
                <a:latin typeface="Ansam"/>
              </a:rPr>
              <a:t>c. Appointment scheduling and reminder functionalities</a:t>
            </a:r>
          </a:p>
          <a:p>
            <a:pPr algn="ctr">
              <a:lnSpc>
                <a:spcPts val="2336"/>
              </a:lnSpc>
            </a:pPr>
            <a:r>
              <a:rPr lang="en-US" sz="2031">
                <a:solidFill>
                  <a:srgbClr val="000000"/>
                </a:solidFill>
                <a:latin typeface="Ansam"/>
              </a:rPr>
              <a:t>d. Reporting and analytics tools for monitoring RHU performance and resource utilization.</a:t>
            </a:r>
          </a:p>
          <a:p>
            <a:pPr algn="ctr">
              <a:lnSpc>
                <a:spcPts val="2336"/>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8E6E2"/>
        </a:solidFill>
      </p:bgPr>
    </p:bg>
    <p:spTree>
      <p:nvGrpSpPr>
        <p:cNvPr id="1" name=""/>
        <p:cNvGrpSpPr/>
        <p:nvPr/>
      </p:nvGrpSpPr>
      <p:grpSpPr>
        <a:xfrm>
          <a:off x="0" y="0"/>
          <a:ext cx="0" cy="0"/>
          <a:chOff x="0" y="0"/>
          <a:chExt cx="0" cy="0"/>
        </a:xfrm>
      </p:grpSpPr>
      <p:sp>
        <p:nvSpPr>
          <p:cNvPr name="Freeform 2" id="2"/>
          <p:cNvSpPr/>
          <p:nvPr/>
        </p:nvSpPr>
        <p:spPr>
          <a:xfrm flipH="false" flipV="false" rot="0">
            <a:off x="2131506" y="2096818"/>
            <a:ext cx="14024987" cy="7525448"/>
          </a:xfrm>
          <a:custGeom>
            <a:avLst/>
            <a:gdLst/>
            <a:ahLst/>
            <a:cxnLst/>
            <a:rect r="r" b="b" t="t" l="l"/>
            <a:pathLst>
              <a:path h="7525448" w="14024987">
                <a:moveTo>
                  <a:pt x="0" y="0"/>
                </a:moveTo>
                <a:lnTo>
                  <a:pt x="14024988" y="0"/>
                </a:lnTo>
                <a:lnTo>
                  <a:pt x="14024988" y="7525448"/>
                </a:lnTo>
                <a:lnTo>
                  <a:pt x="0" y="7525448"/>
                </a:lnTo>
                <a:lnTo>
                  <a:pt x="0" y="0"/>
                </a:lnTo>
                <a:close/>
              </a:path>
            </a:pathLst>
          </a:custGeom>
          <a:blipFill>
            <a:blip r:embed="rId2"/>
            <a:stretch>
              <a:fillRect l="-2958" t="-14838" r="0" b="-5049"/>
            </a:stretch>
          </a:blipFill>
        </p:spPr>
      </p:sp>
      <p:sp>
        <p:nvSpPr>
          <p:cNvPr name="TextBox 3" id="3"/>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CONCEPTUAL FRAMEWORK</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SCOPE AND LIMITATION</a:t>
            </a:r>
          </a:p>
        </p:txBody>
      </p:sp>
      <p:sp>
        <p:nvSpPr>
          <p:cNvPr name="TextBox 6" id="6"/>
          <p:cNvSpPr txBox="true"/>
          <p:nvPr/>
        </p:nvSpPr>
        <p:spPr>
          <a:xfrm rot="0">
            <a:off x="1818308" y="2297313"/>
            <a:ext cx="14424310" cy="7043966"/>
          </a:xfrm>
          <a:prstGeom prst="rect">
            <a:avLst/>
          </a:prstGeom>
        </p:spPr>
        <p:txBody>
          <a:bodyPr anchor="t" rtlCol="false" tIns="0" lIns="0" bIns="0" rIns="0">
            <a:spAutoFit/>
          </a:bodyPr>
          <a:lstStyle/>
          <a:p>
            <a:pPr algn="ctr">
              <a:lnSpc>
                <a:spcPts val="3292"/>
              </a:lnSpc>
            </a:pPr>
            <a:r>
              <a:rPr lang="en-US" sz="2863">
                <a:solidFill>
                  <a:srgbClr val="000000"/>
                </a:solidFill>
                <a:latin typeface="Ansam"/>
              </a:rPr>
              <a:t>The Rural HealthUnit Management System (RHUMS) is designed to streamline administrative and clinical processes, optimize resource allocation, and improve data management practices within Rural Health Units (RHUs). While RHUMS does not directly handle financial aspects, it aims to enhance operational efficiency and patient care delivery through automation of tasks such as patient registration, appointment scheduling, and medical records management. The system also offers reporting and analytics features to provide insights into RHU performance and resource utilization, enabling informed decision-making by healthcare administrators. However, RHUMS may not fully address all aspects of financial tracking, budgeting, and expense management within RHUs, and users seeking comprehensive financial management functionalities may need to integrate RHUMS with dedicated financial management software.</a:t>
            </a:r>
          </a:p>
          <a:p>
            <a:pPr algn="ctr">
              <a:lnSpc>
                <a:spcPts val="3292"/>
              </a:lnSpc>
            </a:pPr>
          </a:p>
          <a:p>
            <a:pPr algn="ctr">
              <a:lnSpc>
                <a:spcPts val="3292"/>
              </a:lnSpc>
            </a:pPr>
            <a:r>
              <a:rPr lang="en-US" sz="2863">
                <a:solidFill>
                  <a:srgbClr val="000000"/>
                </a:solidFill>
                <a:latin typeface="Ansam"/>
              </a:rPr>
              <a:t>Additionally, its effectiveness may be limited by factors such as user adoption rates, training needs, and the availability of necessary infrastructure and resources in rural healthcare settings.</a:t>
            </a:r>
          </a:p>
          <a:p>
            <a:pPr algn="ctr">
              <a:lnSpc>
                <a:spcPts val="3292"/>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SIGNIFICANCE OF THE STUDY</a:t>
            </a:r>
          </a:p>
        </p:txBody>
      </p:sp>
      <p:sp>
        <p:nvSpPr>
          <p:cNvPr name="TextBox 6" id="6"/>
          <p:cNvSpPr txBox="true"/>
          <p:nvPr/>
        </p:nvSpPr>
        <p:spPr>
          <a:xfrm rot="0">
            <a:off x="1604185" y="2365686"/>
            <a:ext cx="14852555" cy="6892614"/>
          </a:xfrm>
          <a:prstGeom prst="rect">
            <a:avLst/>
          </a:prstGeom>
        </p:spPr>
        <p:txBody>
          <a:bodyPr anchor="t" rtlCol="false" tIns="0" lIns="0" bIns="0" rIns="0">
            <a:spAutoFit/>
          </a:bodyPr>
          <a:lstStyle/>
          <a:p>
            <a:pPr algn="ctr">
              <a:lnSpc>
                <a:spcPts val="2883"/>
              </a:lnSpc>
            </a:pPr>
            <a:r>
              <a:rPr lang="en-US" sz="2507">
                <a:solidFill>
                  <a:srgbClr val="000000"/>
                </a:solidFill>
                <a:latin typeface="Ansam"/>
              </a:rPr>
              <a:t>This study is beneficial to the following.</a:t>
            </a:r>
          </a:p>
          <a:p>
            <a:pPr algn="ctr">
              <a:lnSpc>
                <a:spcPts val="2883"/>
              </a:lnSpc>
            </a:pPr>
          </a:p>
          <a:p>
            <a:pPr algn="ctr">
              <a:lnSpc>
                <a:spcPts val="2883"/>
              </a:lnSpc>
            </a:pPr>
            <a:r>
              <a:rPr lang="en-US" sz="2507">
                <a:solidFill>
                  <a:srgbClr val="000000"/>
                </a:solidFill>
                <a:latin typeface="Ansam"/>
              </a:rPr>
              <a:t>Users:</a:t>
            </a:r>
          </a:p>
          <a:p>
            <a:pPr algn="ctr">
              <a:lnSpc>
                <a:spcPts val="2883"/>
              </a:lnSpc>
            </a:pPr>
            <a:r>
              <a:rPr lang="en-US" sz="2507">
                <a:solidFill>
                  <a:srgbClr val="000000"/>
                </a:solidFill>
                <a:latin typeface="Ansam"/>
              </a:rPr>
              <a:t>The Rural Health Unit Management System (RHUMS) greatly improves patient experiences in rural areas by streamlining administrative processes and enhancing access to healthcare services. Through features like automated appointment scheduling and efficient medical records management, RHUMS reduces waiting times and improves communication between patients and healthcare providers. Ultimately, RHUMS enhances healthcare outcomes and promotes the well-being of individuals and communities in rural areas.</a:t>
            </a:r>
          </a:p>
          <a:p>
            <a:pPr algn="ctr">
              <a:lnSpc>
                <a:spcPts val="2883"/>
              </a:lnSpc>
            </a:pPr>
          </a:p>
          <a:p>
            <a:pPr algn="ctr">
              <a:lnSpc>
                <a:spcPts val="2883"/>
              </a:lnSpc>
            </a:pPr>
            <a:r>
              <a:rPr lang="en-US" sz="2507">
                <a:solidFill>
                  <a:srgbClr val="000000"/>
                </a:solidFill>
                <a:latin typeface="Ansam"/>
              </a:rPr>
              <a:t>Local Government Unit:</a:t>
            </a:r>
          </a:p>
          <a:p>
            <a:pPr algn="ctr">
              <a:lnSpc>
                <a:spcPts val="2883"/>
              </a:lnSpc>
            </a:pPr>
            <a:r>
              <a:rPr lang="en-US" sz="2507">
                <a:solidFill>
                  <a:srgbClr val="000000"/>
                </a:solidFill>
                <a:latin typeface="Ansam"/>
              </a:rPr>
              <a:t>The implementation of the Rural Health Unit Management System (RHUMS) is a significant step towards improving healthcare delivery in rural areas. By optimizing resource allocation and enhancing operational efficiency within Rural Health Units (RHUs), RHUMS enables the government to maximize healthcare investments and address the needs of rural populations more effectively. Additionally, RHUMS provides valuable insights into RHU performance, enabling informed decision-making and better allocation of resources to improve healthcare access and outcomes for rural communities.</a:t>
            </a:r>
          </a:p>
          <a:p>
            <a:pPr algn="ctr">
              <a:lnSpc>
                <a:spcPts val="2883"/>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DEFINITION OF TERMS</a:t>
            </a:r>
          </a:p>
        </p:txBody>
      </p:sp>
      <p:sp>
        <p:nvSpPr>
          <p:cNvPr name="TextBox 6" id="6"/>
          <p:cNvSpPr txBox="true"/>
          <p:nvPr/>
        </p:nvSpPr>
        <p:spPr>
          <a:xfrm rot="0">
            <a:off x="1388940" y="2429551"/>
            <a:ext cx="15283046" cy="6355563"/>
          </a:xfrm>
          <a:prstGeom prst="rect">
            <a:avLst/>
          </a:prstGeom>
        </p:spPr>
        <p:txBody>
          <a:bodyPr anchor="t" rtlCol="false" tIns="0" lIns="0" bIns="0" rIns="0">
            <a:spAutoFit/>
          </a:bodyPr>
          <a:lstStyle/>
          <a:p>
            <a:pPr algn="ctr">
              <a:lnSpc>
                <a:spcPts val="2967"/>
              </a:lnSpc>
            </a:pPr>
            <a:r>
              <a:rPr lang="en-US" sz="2580">
                <a:solidFill>
                  <a:srgbClr val="000000"/>
                </a:solidFill>
                <a:latin typeface="Ansam"/>
              </a:rPr>
              <a:t>The following terms are defined operationally for the common understanding.</a:t>
            </a:r>
          </a:p>
          <a:p>
            <a:pPr algn="ctr">
              <a:lnSpc>
                <a:spcPts val="2967"/>
              </a:lnSpc>
            </a:pPr>
          </a:p>
          <a:p>
            <a:pPr algn="ctr">
              <a:lnSpc>
                <a:spcPts val="2967"/>
              </a:lnSpc>
            </a:pPr>
            <a:r>
              <a:rPr lang="en-US" sz="2580">
                <a:solidFill>
                  <a:srgbClr val="000000"/>
                </a:solidFill>
                <a:latin typeface="Ansam"/>
              </a:rPr>
              <a:t>1. Rural Health Unit (RHU): A healthcare facility situated in rural areas, primarily tasked with providing essential healthcare services to underserved communities. RHUs typically offer a range of medical services, including consultations, preventive care, and basic diagnostic procedures.</a:t>
            </a:r>
          </a:p>
          <a:p>
            <a:pPr algn="ctr">
              <a:lnSpc>
                <a:spcPts val="2967"/>
              </a:lnSpc>
            </a:pPr>
          </a:p>
          <a:p>
            <a:pPr algn="ctr">
              <a:lnSpc>
                <a:spcPts val="2967"/>
              </a:lnSpc>
            </a:pPr>
            <a:r>
              <a:rPr lang="en-US" sz="2580">
                <a:solidFill>
                  <a:srgbClr val="000000"/>
                </a:solidFill>
                <a:latin typeface="Ansam"/>
              </a:rPr>
              <a:t>2. Rural Health Unit Management System (RHUMS): A software solution designed to streamline administrative and clinical processes within RHUs. RHUMS facilitates tasks such as patient registration, appointment scheduling, medical records management, and resource allocation, aiming to enhance operational efficiency and improve patient care delivery in rural healthcare settings.</a:t>
            </a:r>
          </a:p>
          <a:p>
            <a:pPr algn="ctr">
              <a:lnSpc>
                <a:spcPts val="2967"/>
              </a:lnSpc>
            </a:pPr>
          </a:p>
          <a:p>
            <a:pPr algn="ctr">
              <a:lnSpc>
                <a:spcPts val="2967"/>
              </a:lnSpc>
            </a:pPr>
          </a:p>
          <a:p>
            <a:pPr algn="ctr">
              <a:lnSpc>
                <a:spcPts val="2967"/>
              </a:lnSpc>
            </a:pPr>
            <a:r>
              <a:rPr lang="en-US" sz="2580">
                <a:solidFill>
                  <a:srgbClr val="000000"/>
                </a:solidFill>
                <a:latin typeface="Ansam"/>
              </a:rPr>
              <a:t>3. Operational Efficiency: The ability of a healthcare facility to utilize resources effectively and achieve desired outcomes with minimal waste. Operational efficiency in RHUs involves optimizing processes, reducingwait times, and improving overall service delivery while utilizing available resources efficiently.</a:t>
            </a:r>
          </a:p>
          <a:p>
            <a:pPr algn="ctr">
              <a:lnSpc>
                <a:spcPts val="2967"/>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DEFINITION OF TERMS</a:t>
            </a:r>
          </a:p>
        </p:txBody>
      </p:sp>
      <p:sp>
        <p:nvSpPr>
          <p:cNvPr name="TextBox 6" id="6"/>
          <p:cNvSpPr txBox="true"/>
          <p:nvPr/>
        </p:nvSpPr>
        <p:spPr>
          <a:xfrm rot="0">
            <a:off x="1322357" y="2545663"/>
            <a:ext cx="15643286" cy="6123340"/>
          </a:xfrm>
          <a:prstGeom prst="rect">
            <a:avLst/>
          </a:prstGeom>
        </p:spPr>
        <p:txBody>
          <a:bodyPr anchor="t" rtlCol="false" tIns="0" lIns="0" bIns="0" rIns="0">
            <a:spAutoFit/>
          </a:bodyPr>
          <a:lstStyle/>
          <a:p>
            <a:pPr algn="ctr">
              <a:lnSpc>
                <a:spcPts val="3037"/>
              </a:lnSpc>
            </a:pPr>
            <a:r>
              <a:rPr lang="en-US" sz="2640">
                <a:solidFill>
                  <a:srgbClr val="000000"/>
                </a:solidFill>
                <a:latin typeface="Ansam"/>
              </a:rPr>
              <a:t>4. Resource Allocation: The process of distributing available resources, such as personnel, equipment, and funding to different areas or activities within a healthcare facility. Effective resource allocation in RHUs ensures that resources are directed towards priority areas to meet the healthcare needs of the community.</a:t>
            </a:r>
          </a:p>
          <a:p>
            <a:pPr algn="ctr">
              <a:lnSpc>
                <a:spcPts val="3037"/>
              </a:lnSpc>
            </a:pPr>
          </a:p>
          <a:p>
            <a:pPr algn="ctr">
              <a:lnSpc>
                <a:spcPts val="3037"/>
              </a:lnSpc>
            </a:pPr>
            <a:r>
              <a:rPr lang="en-US" sz="2640">
                <a:solidFill>
                  <a:srgbClr val="000000"/>
                </a:solidFill>
                <a:latin typeface="Ansam"/>
              </a:rPr>
              <a:t>5</a:t>
            </a:r>
            <a:r>
              <a:rPr lang="en-US" sz="2640">
                <a:solidFill>
                  <a:srgbClr val="000000"/>
                </a:solidFill>
                <a:latin typeface="Ansam"/>
              </a:rPr>
              <a:t>. Reporting and Analytics: The process of collecting, analyzing, and presenting data to gain insights into the performance and operations of a healthcare facility. Reporting and analytics toolsin RHUMS provide valuable information on RHU performance, resource utilization, and patient outcomes, enabling informed decision-making by healthcare administrators.</a:t>
            </a:r>
          </a:p>
          <a:p>
            <a:pPr algn="ctr">
              <a:lnSpc>
                <a:spcPts val="3037"/>
              </a:lnSpc>
            </a:pPr>
          </a:p>
          <a:p>
            <a:pPr algn="ctr">
              <a:lnSpc>
                <a:spcPts val="3037"/>
              </a:lnSpc>
            </a:pPr>
            <a:r>
              <a:rPr lang="en-US" sz="2640">
                <a:solidFill>
                  <a:srgbClr val="000000"/>
                </a:solidFill>
                <a:latin typeface="Ansam"/>
              </a:rPr>
              <a:t>6</a:t>
            </a:r>
            <a:r>
              <a:rPr lang="en-US" sz="2640">
                <a:solidFill>
                  <a:srgbClr val="000000"/>
                </a:solidFill>
                <a:latin typeface="Ansam"/>
              </a:rPr>
              <a:t>. Healthcare Outcomes: The results or effects of healthcare interventions on patients' health status and well-being. Positive healthcare outcomes in RHUs include improvements in patient health, satisfaction with healthcare services, and adherence to treatment plans. RHUMSaims to improvehealthcare outcomes by enhancing access to care, promoting preventive measures, and facilitating efficient healthcare delivery.</a:t>
            </a:r>
          </a:p>
          <a:p>
            <a:pPr algn="ctr">
              <a:lnSpc>
                <a:spcPts val="3037"/>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162747" y="5354208"/>
            <a:ext cx="9668850" cy="3179953"/>
          </a:xfrm>
          <a:custGeom>
            <a:avLst/>
            <a:gdLst/>
            <a:ahLst/>
            <a:cxnLst/>
            <a:rect r="r" b="b" t="t" l="l"/>
            <a:pathLst>
              <a:path h="3179953" w="9668850">
                <a:moveTo>
                  <a:pt x="0" y="0"/>
                </a:moveTo>
                <a:lnTo>
                  <a:pt x="9668849" y="0"/>
                </a:lnTo>
                <a:lnTo>
                  <a:pt x="9668849" y="3179953"/>
                </a:lnTo>
                <a:lnTo>
                  <a:pt x="0" y="3179953"/>
                </a:lnTo>
                <a:lnTo>
                  <a:pt x="0" y="0"/>
                </a:lnTo>
                <a:close/>
              </a:path>
            </a:pathLst>
          </a:custGeom>
          <a:blipFill>
            <a:blip r:embed="rId2"/>
            <a:stretch>
              <a:fillRect l="0" t="-123" r="0" b="-123"/>
            </a:stretch>
          </a:blipFill>
        </p:spPr>
      </p:sp>
      <p:sp>
        <p:nvSpPr>
          <p:cNvPr name="TextBox 6" id="6"/>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RESEARCH DESIGN</a:t>
            </a:r>
          </a:p>
        </p:txBody>
      </p:sp>
      <p:sp>
        <p:nvSpPr>
          <p:cNvPr name="TextBox 7" id="7"/>
          <p:cNvSpPr txBox="true"/>
          <p:nvPr/>
        </p:nvSpPr>
        <p:spPr>
          <a:xfrm rot="0">
            <a:off x="1028700" y="2545663"/>
            <a:ext cx="15936943" cy="2808545"/>
          </a:xfrm>
          <a:prstGeom prst="rect">
            <a:avLst/>
          </a:prstGeom>
        </p:spPr>
        <p:txBody>
          <a:bodyPr anchor="t" rtlCol="false" tIns="0" lIns="0" bIns="0" rIns="0">
            <a:spAutoFit/>
          </a:bodyPr>
          <a:lstStyle/>
          <a:p>
            <a:pPr algn="ctr">
              <a:lnSpc>
                <a:spcPts val="3209"/>
              </a:lnSpc>
            </a:pPr>
            <a:r>
              <a:rPr lang="en-US" sz="2790">
                <a:solidFill>
                  <a:srgbClr val="000000"/>
                </a:solidFill>
                <a:latin typeface="Ansam"/>
              </a:rPr>
              <a:t> The research design employed in this study blends elements of descriptive and developmental research methodologies to guide the development process of the Rural HealthUnit Management System (RHUMS). Descriptive research involvessystematically observing and portraying phenomena without influencing them, providing an in-depth understanding of the subject matter. In contrast, developmental research focuses on creating, refining, and evaluating programs or products to achieve specific goals.</a:t>
            </a:r>
          </a:p>
          <a:p>
            <a:pPr algn="ctr">
              <a:lnSpc>
                <a:spcPts val="320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SOURCES OF DATA</a:t>
            </a:r>
          </a:p>
        </p:txBody>
      </p:sp>
      <p:sp>
        <p:nvSpPr>
          <p:cNvPr name="TextBox 6" id="6"/>
          <p:cNvSpPr txBox="true"/>
          <p:nvPr/>
        </p:nvSpPr>
        <p:spPr>
          <a:xfrm rot="0">
            <a:off x="1028700" y="2802885"/>
            <a:ext cx="15936943" cy="5608895"/>
          </a:xfrm>
          <a:prstGeom prst="rect">
            <a:avLst/>
          </a:prstGeom>
        </p:spPr>
        <p:txBody>
          <a:bodyPr anchor="t" rtlCol="false" tIns="0" lIns="0" bIns="0" rIns="0">
            <a:spAutoFit/>
          </a:bodyPr>
          <a:lstStyle/>
          <a:p>
            <a:pPr algn="ctr">
              <a:lnSpc>
                <a:spcPts val="3209"/>
              </a:lnSpc>
            </a:pPr>
            <a:r>
              <a:rPr lang="en-US" sz="2790">
                <a:solidFill>
                  <a:srgbClr val="000000"/>
                </a:solidFill>
                <a:latin typeface="Ansam"/>
              </a:rPr>
              <a:t>Primary data for the Rural Health Unit Management System (RHUMS) was collected primarily through research and interviews. A series of interviews were conducted to gather essential information regarding administrative processes, patient care, resource allocation, and other pertinent aspects of healthcare management in rural settings. Additionally, observations were made to understand users' experiences, challenges, and the impact of the RHUMS on the overallmanagement processes within rural health units.</a:t>
            </a:r>
          </a:p>
          <a:p>
            <a:pPr algn="ctr">
              <a:lnSpc>
                <a:spcPts val="3209"/>
              </a:lnSpc>
            </a:pPr>
          </a:p>
          <a:p>
            <a:pPr algn="ctr">
              <a:lnSpc>
                <a:spcPts val="3209"/>
              </a:lnSpc>
            </a:pPr>
            <a:r>
              <a:rPr lang="en-US" sz="2790">
                <a:solidFill>
                  <a:srgbClr val="000000"/>
                </a:solidFill>
                <a:latin typeface="Ansam"/>
              </a:rPr>
              <a:t>Secondary data sources were obtained through extensive internet research and analysis. Relevant articles, journals, and resources related to RHUMS and rural healthcare management were explored to supplement the primary data collected. This secondary data served to enrich the understanding of the subject matter, provide context, and support the findings derived from primary research methods. By combining primary and secondary data sources, a comprehensive understanding of RHUMS and its implications for rural healthcare management was achieved.</a:t>
            </a:r>
          </a:p>
          <a:p>
            <a:pPr algn="ctr">
              <a:lnSpc>
                <a:spcPts val="320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33244" y="64686"/>
            <a:ext cx="18927414" cy="1947078"/>
          </a:xfrm>
          <a:prstGeom prst="rect">
            <a:avLst/>
          </a:prstGeom>
        </p:spPr>
        <p:txBody>
          <a:bodyPr anchor="t" rtlCol="false" tIns="0" lIns="0" bIns="0" rIns="0">
            <a:spAutoFit/>
          </a:bodyPr>
          <a:lstStyle/>
          <a:p>
            <a:pPr algn="ctr">
              <a:lnSpc>
                <a:spcPts val="7620"/>
              </a:lnSpc>
            </a:pPr>
            <a:r>
              <a:rPr lang="en-US" sz="6626">
                <a:solidFill>
                  <a:srgbClr val="000000"/>
                </a:solidFill>
                <a:latin typeface="Ansam"/>
              </a:rPr>
              <a:t>INSTRUMENTATION AND DATA COLLECTION </a:t>
            </a:r>
          </a:p>
        </p:txBody>
      </p:sp>
      <p:sp>
        <p:nvSpPr>
          <p:cNvPr name="TextBox 6" id="6"/>
          <p:cNvSpPr txBox="true"/>
          <p:nvPr/>
        </p:nvSpPr>
        <p:spPr>
          <a:xfrm rot="0">
            <a:off x="1175528" y="3040375"/>
            <a:ext cx="15936943" cy="5143440"/>
          </a:xfrm>
          <a:prstGeom prst="rect">
            <a:avLst/>
          </a:prstGeom>
        </p:spPr>
        <p:txBody>
          <a:bodyPr anchor="t" rtlCol="false" tIns="0" lIns="0" bIns="0" rIns="0">
            <a:spAutoFit/>
          </a:bodyPr>
          <a:lstStyle/>
          <a:p>
            <a:pPr algn="ctr">
              <a:lnSpc>
                <a:spcPts val="3439"/>
              </a:lnSpc>
            </a:pPr>
            <a:r>
              <a:rPr lang="en-US" sz="2990">
                <a:solidFill>
                  <a:srgbClr val="000000"/>
                </a:solidFill>
                <a:latin typeface="Ansam"/>
              </a:rPr>
              <a:t>Interviews: A series of interviews with stakeholders was conducted as a primary data collection method. According to Smith (2015), interviews involve system analysts engaging with individuals or groups of users, offering an effective means to grasp business functions and rules. This method was employed to complement information gathered from various literature sources and to gain an in-depth understanding of the existing system.</a:t>
            </a:r>
          </a:p>
          <a:p>
            <a:pPr algn="ctr">
              <a:lnSpc>
                <a:spcPts val="3439"/>
              </a:lnSpc>
            </a:pPr>
          </a:p>
          <a:p>
            <a:pPr algn="ctr">
              <a:lnSpc>
                <a:spcPts val="3439"/>
              </a:lnSpc>
            </a:pPr>
            <a:r>
              <a:rPr lang="en-US" sz="2990">
                <a:solidFill>
                  <a:srgbClr val="000000"/>
                </a:solidFill>
                <a:latin typeface="Ansam"/>
              </a:rPr>
              <a:t>Observation: Observation played a crucial role in the study's development process. It is a method wherein system analysts observe business functionsto visualize the new systemsassociated with the business process (Jones, 2012). This method aided in understanding the intricacies of the business functions and processes, contributing to the development of the Rural Health Unit Management System (RHUMS).</a:t>
            </a:r>
          </a:p>
          <a:p>
            <a:pPr algn="ctr">
              <a:lnSpc>
                <a:spcPts val="343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TOOLS FOR DATA ANALYSIS</a:t>
            </a:r>
          </a:p>
        </p:txBody>
      </p:sp>
      <p:sp>
        <p:nvSpPr>
          <p:cNvPr name="TextBox 6" id="6"/>
          <p:cNvSpPr txBox="true"/>
          <p:nvPr/>
        </p:nvSpPr>
        <p:spPr>
          <a:xfrm rot="0">
            <a:off x="1175528" y="3086413"/>
            <a:ext cx="15936943" cy="5051365"/>
          </a:xfrm>
          <a:prstGeom prst="rect">
            <a:avLst/>
          </a:prstGeom>
        </p:spPr>
        <p:txBody>
          <a:bodyPr anchor="t" rtlCol="false" tIns="0" lIns="0" bIns="0" rIns="0">
            <a:spAutoFit/>
          </a:bodyPr>
          <a:lstStyle/>
          <a:p>
            <a:pPr algn="ctr">
              <a:lnSpc>
                <a:spcPts val="4014"/>
              </a:lnSpc>
            </a:pPr>
            <a:r>
              <a:rPr lang="en-US" sz="3490">
                <a:solidFill>
                  <a:srgbClr val="000000"/>
                </a:solidFill>
                <a:latin typeface="Ansam"/>
              </a:rPr>
              <a:t> ER Diagrams: The study employed ER diagrams to visualize the database structure effectively. An entity-relationship (ER) diagram is a graphical representation illustrating the relationships between entities in a database. In this diagram, entities are depicted using boxes, relationships using diamonds, and attributes using ovals. This tool served as a blueprint for accurately reflecting the organization's operations within the database, ensuring the adequacy of entities, attributes, and relationships. ER diagrams also facilitated the validation of proposed data dictionary entries, ensuring consistency and completeness in database design.</a:t>
            </a:r>
          </a:p>
          <a:p>
            <a:pPr algn="ctr">
              <a:lnSpc>
                <a:spcPts val="4014"/>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8E6E2"/>
        </a:solidFill>
      </p:bgPr>
    </p:bg>
    <p:spTree>
      <p:nvGrpSpPr>
        <p:cNvPr id="1" name=""/>
        <p:cNvGrpSpPr/>
        <p:nvPr/>
      </p:nvGrpSpPr>
      <p:grpSpPr>
        <a:xfrm>
          <a:off x="0" y="0"/>
          <a:ext cx="0" cy="0"/>
          <a:chOff x="0" y="0"/>
          <a:chExt cx="0" cy="0"/>
        </a:xfrm>
      </p:grpSpPr>
      <p:sp>
        <p:nvSpPr>
          <p:cNvPr name="Freeform 2" id="2"/>
          <p:cNvSpPr/>
          <p:nvPr/>
        </p:nvSpPr>
        <p:spPr>
          <a:xfrm flipH="false" flipV="false" rot="0">
            <a:off x="2589662" y="2114710"/>
            <a:ext cx="13108675" cy="7286798"/>
          </a:xfrm>
          <a:custGeom>
            <a:avLst/>
            <a:gdLst/>
            <a:ahLst/>
            <a:cxnLst/>
            <a:rect r="r" b="b" t="t" l="l"/>
            <a:pathLst>
              <a:path h="7286798" w="13108675">
                <a:moveTo>
                  <a:pt x="0" y="0"/>
                </a:moveTo>
                <a:lnTo>
                  <a:pt x="13108676" y="0"/>
                </a:lnTo>
                <a:lnTo>
                  <a:pt x="13108676" y="7286798"/>
                </a:lnTo>
                <a:lnTo>
                  <a:pt x="0" y="7286798"/>
                </a:lnTo>
                <a:lnTo>
                  <a:pt x="0" y="0"/>
                </a:lnTo>
                <a:close/>
              </a:path>
            </a:pathLst>
          </a:custGeom>
          <a:blipFill>
            <a:blip r:embed="rId2"/>
            <a:stretch>
              <a:fillRect l="-1082" t="-246" r="-91" b="0"/>
            </a:stretch>
          </a:blipFill>
        </p:spPr>
      </p:sp>
      <p:sp>
        <p:nvSpPr>
          <p:cNvPr name="TextBox 3" id="3"/>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BUSINESS RULES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DATABASE DESIGN</a:t>
            </a:r>
          </a:p>
        </p:txBody>
      </p:sp>
      <p:sp>
        <p:nvSpPr>
          <p:cNvPr name="TextBox 6" id="6"/>
          <p:cNvSpPr txBox="true"/>
          <p:nvPr/>
        </p:nvSpPr>
        <p:spPr>
          <a:xfrm rot="0">
            <a:off x="1175528" y="2489711"/>
            <a:ext cx="15936943" cy="6565840"/>
          </a:xfrm>
          <a:prstGeom prst="rect">
            <a:avLst/>
          </a:prstGeom>
        </p:spPr>
        <p:txBody>
          <a:bodyPr anchor="t" rtlCol="false" tIns="0" lIns="0" bIns="0" rIns="0">
            <a:spAutoFit/>
          </a:bodyPr>
          <a:lstStyle/>
          <a:p>
            <a:pPr algn="ctr">
              <a:lnSpc>
                <a:spcPts val="4014"/>
              </a:lnSpc>
            </a:pPr>
            <a:r>
              <a:rPr lang="en-US" sz="3490">
                <a:solidFill>
                  <a:srgbClr val="000000"/>
                </a:solidFill>
                <a:latin typeface="Ansam"/>
              </a:rPr>
              <a:t>1. Appointment Table:</a:t>
            </a:r>
          </a:p>
          <a:p>
            <a:pPr algn="ctr">
              <a:lnSpc>
                <a:spcPts val="4014"/>
              </a:lnSpc>
            </a:pPr>
            <a:r>
              <a:rPr lang="en-US" sz="3490">
                <a:solidFill>
                  <a:srgbClr val="000000"/>
                </a:solidFill>
                <a:latin typeface="Ansam"/>
              </a:rPr>
              <a:t>This section handles the logs for the inserted appointments. </a:t>
            </a:r>
          </a:p>
          <a:p>
            <a:pPr algn="ctr">
              <a:lnSpc>
                <a:spcPts val="4014"/>
              </a:lnSpc>
            </a:pPr>
            <a:r>
              <a:rPr lang="en-US" sz="3490">
                <a:solidFill>
                  <a:srgbClr val="000000"/>
                </a:solidFill>
                <a:latin typeface="Ansam"/>
              </a:rPr>
              <a:t>id (Primary Key),</a:t>
            </a:r>
          </a:p>
          <a:p>
            <a:pPr algn="ctr">
              <a:lnSpc>
                <a:spcPts val="4014"/>
              </a:lnSpc>
            </a:pPr>
            <a:r>
              <a:rPr lang="en-US" sz="3490">
                <a:solidFill>
                  <a:srgbClr val="000000"/>
                </a:solidFill>
                <a:latin typeface="Ansam"/>
              </a:rPr>
              <a:t>firstname, middlename, lastname,</a:t>
            </a:r>
          </a:p>
          <a:p>
            <a:pPr algn="ctr">
              <a:lnSpc>
                <a:spcPts val="4014"/>
              </a:lnSpc>
            </a:pPr>
            <a:r>
              <a:rPr lang="en-US" sz="3490">
                <a:solidFill>
                  <a:srgbClr val="000000"/>
                </a:solidFill>
                <a:latin typeface="Ansam"/>
              </a:rPr>
              <a:t>email, phonenumber, sex,</a:t>
            </a:r>
          </a:p>
          <a:p>
            <a:pPr algn="ctr">
              <a:lnSpc>
                <a:spcPts val="4014"/>
              </a:lnSpc>
            </a:pPr>
            <a:r>
              <a:rPr lang="en-US" sz="3490">
                <a:solidFill>
                  <a:srgbClr val="000000"/>
                </a:solidFill>
                <a:latin typeface="Ansam"/>
              </a:rPr>
              <a:t>service, date, message</a:t>
            </a:r>
          </a:p>
          <a:p>
            <a:pPr algn="ctr">
              <a:lnSpc>
                <a:spcPts val="4014"/>
              </a:lnSpc>
            </a:pPr>
          </a:p>
          <a:p>
            <a:pPr algn="ctr">
              <a:lnSpc>
                <a:spcPts val="4014"/>
              </a:lnSpc>
            </a:pPr>
            <a:r>
              <a:rPr lang="en-US" sz="3490">
                <a:solidFill>
                  <a:srgbClr val="000000"/>
                </a:solidFill>
                <a:latin typeface="Ansam"/>
              </a:rPr>
              <a:t>2. ContactUs Table:</a:t>
            </a:r>
          </a:p>
          <a:p>
            <a:pPr algn="ctr">
              <a:lnSpc>
                <a:spcPts val="4014"/>
              </a:lnSpc>
            </a:pPr>
            <a:r>
              <a:rPr lang="en-US" sz="3490">
                <a:solidFill>
                  <a:srgbClr val="000000"/>
                </a:solidFill>
                <a:latin typeface="Ansam"/>
              </a:rPr>
              <a:t>This section handles the messages inserted from the user page. </a:t>
            </a:r>
          </a:p>
          <a:p>
            <a:pPr algn="ctr">
              <a:lnSpc>
                <a:spcPts val="4014"/>
              </a:lnSpc>
            </a:pPr>
            <a:r>
              <a:rPr lang="en-US" sz="3490">
                <a:solidFill>
                  <a:srgbClr val="000000"/>
                </a:solidFill>
                <a:latin typeface="Ansam"/>
              </a:rPr>
              <a:t>id (Primary Key),</a:t>
            </a:r>
          </a:p>
          <a:p>
            <a:pPr algn="ctr">
              <a:lnSpc>
                <a:spcPts val="4014"/>
              </a:lnSpc>
            </a:pPr>
            <a:r>
              <a:rPr lang="en-US" sz="3490">
                <a:solidFill>
                  <a:srgbClr val="000000"/>
                </a:solidFill>
                <a:latin typeface="Ansam"/>
              </a:rPr>
              <a:t>fullname, emailaddress, message</a:t>
            </a:r>
          </a:p>
          <a:p>
            <a:pPr algn="ctr">
              <a:lnSpc>
                <a:spcPts val="4014"/>
              </a:lnSpc>
            </a:pPr>
          </a:p>
          <a:p>
            <a:pPr algn="ctr">
              <a:lnSpc>
                <a:spcPts val="4014"/>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DATABASE DESIGN</a:t>
            </a:r>
          </a:p>
        </p:txBody>
      </p:sp>
      <p:sp>
        <p:nvSpPr>
          <p:cNvPr name="TextBox 6" id="6"/>
          <p:cNvSpPr txBox="true"/>
          <p:nvPr/>
        </p:nvSpPr>
        <p:spPr>
          <a:xfrm rot="0">
            <a:off x="1215490" y="2184040"/>
            <a:ext cx="15629945" cy="8914495"/>
          </a:xfrm>
          <a:prstGeom prst="rect">
            <a:avLst/>
          </a:prstGeom>
        </p:spPr>
        <p:txBody>
          <a:bodyPr anchor="t" rtlCol="false" tIns="0" lIns="0" bIns="0" rIns="0">
            <a:spAutoFit/>
          </a:bodyPr>
          <a:lstStyle/>
          <a:p>
            <a:pPr algn="ctr">
              <a:lnSpc>
                <a:spcPts val="3936"/>
              </a:lnSpc>
            </a:pPr>
            <a:r>
              <a:rPr lang="en-US" sz="3423">
                <a:solidFill>
                  <a:srgbClr val="000000"/>
                </a:solidFill>
                <a:latin typeface="Ansam"/>
              </a:rPr>
              <a:t>3. Events Table:</a:t>
            </a:r>
          </a:p>
          <a:p>
            <a:pPr algn="ctr">
              <a:lnSpc>
                <a:spcPts val="3936"/>
              </a:lnSpc>
            </a:pPr>
            <a:r>
              <a:rPr lang="en-US" sz="3423">
                <a:solidFill>
                  <a:srgbClr val="000000"/>
                </a:solidFill>
                <a:latin typeface="Ansam"/>
              </a:rPr>
              <a:t>This section handles the events inserted from the admin page. </a:t>
            </a:r>
          </a:p>
          <a:p>
            <a:pPr algn="ctr">
              <a:lnSpc>
                <a:spcPts val="3936"/>
              </a:lnSpc>
            </a:pPr>
            <a:r>
              <a:rPr lang="en-US" sz="3423">
                <a:solidFill>
                  <a:srgbClr val="000000"/>
                </a:solidFill>
                <a:latin typeface="Ansam"/>
              </a:rPr>
              <a:t>id (Primary Key),</a:t>
            </a:r>
          </a:p>
          <a:p>
            <a:pPr algn="ctr">
              <a:lnSpc>
                <a:spcPts val="3936"/>
              </a:lnSpc>
            </a:pPr>
            <a:r>
              <a:rPr lang="en-US" sz="3423">
                <a:solidFill>
                  <a:srgbClr val="000000"/>
                </a:solidFill>
                <a:latin typeface="Ansam"/>
              </a:rPr>
              <a:t>eventTitle, eventDescription, eventDate</a:t>
            </a:r>
          </a:p>
          <a:p>
            <a:pPr algn="ctr">
              <a:lnSpc>
                <a:spcPts val="3936"/>
              </a:lnSpc>
            </a:pPr>
          </a:p>
          <a:p>
            <a:pPr algn="ctr">
              <a:lnSpc>
                <a:spcPts val="3936"/>
              </a:lnSpc>
            </a:pPr>
          </a:p>
          <a:p>
            <a:pPr algn="ctr">
              <a:lnSpc>
                <a:spcPts val="3936"/>
              </a:lnSpc>
            </a:pPr>
            <a:r>
              <a:rPr lang="en-US" sz="3423">
                <a:solidFill>
                  <a:srgbClr val="000000"/>
                </a:solidFill>
                <a:latin typeface="Ansam"/>
              </a:rPr>
              <a:t>4. Medicine Table:</a:t>
            </a:r>
          </a:p>
          <a:p>
            <a:pPr algn="ctr">
              <a:lnSpc>
                <a:spcPts val="3936"/>
              </a:lnSpc>
            </a:pPr>
            <a:r>
              <a:rPr lang="en-US" sz="3423">
                <a:solidFill>
                  <a:srgbClr val="000000"/>
                </a:solidFill>
                <a:latin typeface="Ansam"/>
              </a:rPr>
              <a:t>This section handles the medicines inserted from the admin page. </a:t>
            </a:r>
          </a:p>
          <a:p>
            <a:pPr algn="ctr">
              <a:lnSpc>
                <a:spcPts val="3936"/>
              </a:lnSpc>
            </a:pPr>
            <a:r>
              <a:rPr lang="en-US" sz="3423">
                <a:solidFill>
                  <a:srgbClr val="000000"/>
                </a:solidFill>
                <a:latin typeface="Ansam"/>
              </a:rPr>
              <a:t>id (Primary Key),</a:t>
            </a:r>
          </a:p>
          <a:p>
            <a:pPr algn="ctr">
              <a:lnSpc>
                <a:spcPts val="3936"/>
              </a:lnSpc>
            </a:pPr>
            <a:r>
              <a:rPr lang="en-US" sz="3423">
                <a:solidFill>
                  <a:srgbClr val="000000"/>
                </a:solidFill>
                <a:latin typeface="Ansam"/>
              </a:rPr>
              <a:t>medicinename, desciption, quantity, manufacturingdate, expirationdate</a:t>
            </a:r>
          </a:p>
          <a:p>
            <a:pPr algn="ctr">
              <a:lnSpc>
                <a:spcPts val="3936"/>
              </a:lnSpc>
            </a:pPr>
          </a:p>
          <a:p>
            <a:pPr algn="ctr">
              <a:lnSpc>
                <a:spcPts val="3936"/>
              </a:lnSpc>
            </a:pPr>
            <a:r>
              <a:rPr lang="en-US" sz="3423">
                <a:solidFill>
                  <a:srgbClr val="000000"/>
                </a:solidFill>
                <a:latin typeface="Ansam"/>
              </a:rPr>
              <a:t>5.UserLogin Table:</a:t>
            </a:r>
          </a:p>
          <a:p>
            <a:pPr algn="ctr">
              <a:lnSpc>
                <a:spcPts val="3936"/>
              </a:lnSpc>
            </a:pPr>
            <a:r>
              <a:rPr lang="en-US" sz="3423">
                <a:solidFill>
                  <a:srgbClr val="000000"/>
                </a:solidFill>
                <a:latin typeface="Ansam"/>
              </a:rPr>
              <a:t>This section handles the accounts. </a:t>
            </a:r>
          </a:p>
          <a:p>
            <a:pPr algn="ctr">
              <a:lnSpc>
                <a:spcPts val="3936"/>
              </a:lnSpc>
            </a:pPr>
            <a:r>
              <a:rPr lang="en-US" sz="3423">
                <a:solidFill>
                  <a:srgbClr val="000000"/>
                </a:solidFill>
                <a:latin typeface="Ansam"/>
              </a:rPr>
              <a:t>id (Primary Key), email, password</a:t>
            </a:r>
          </a:p>
          <a:p>
            <a:pPr algn="ctr">
              <a:lnSpc>
                <a:spcPts val="3936"/>
              </a:lnSpc>
            </a:pPr>
          </a:p>
          <a:p>
            <a:pPr algn="ctr">
              <a:lnSpc>
                <a:spcPts val="3936"/>
              </a:lnSpc>
            </a:pPr>
          </a:p>
          <a:p>
            <a:pPr algn="ctr">
              <a:lnSpc>
                <a:spcPts val="3936"/>
              </a:lnSpc>
            </a:pPr>
          </a:p>
          <a:p>
            <a:pPr algn="ctr">
              <a:lnSpc>
                <a:spcPts val="3936"/>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FEATURES OF THE SYSTEM</a:t>
            </a:r>
          </a:p>
        </p:txBody>
      </p:sp>
      <p:sp>
        <p:nvSpPr>
          <p:cNvPr name="TextBox 6" id="6"/>
          <p:cNvSpPr txBox="true"/>
          <p:nvPr/>
        </p:nvSpPr>
        <p:spPr>
          <a:xfrm rot="0">
            <a:off x="1061991" y="2418107"/>
            <a:ext cx="15936943" cy="7070665"/>
          </a:xfrm>
          <a:prstGeom prst="rect">
            <a:avLst/>
          </a:prstGeom>
        </p:spPr>
        <p:txBody>
          <a:bodyPr anchor="t" rtlCol="false" tIns="0" lIns="0" bIns="0" rIns="0">
            <a:spAutoFit/>
          </a:bodyPr>
          <a:lstStyle/>
          <a:p>
            <a:pPr algn="ctr">
              <a:lnSpc>
                <a:spcPts val="4014"/>
              </a:lnSpc>
            </a:pPr>
            <a:r>
              <a:rPr lang="en-US" sz="3490">
                <a:solidFill>
                  <a:srgbClr val="000000"/>
                </a:solidFill>
                <a:latin typeface="Ansam"/>
              </a:rPr>
              <a:t>1.      Patient Management: RHUMS facilitates efficient patient management, including registration, and appointment scheduling.</a:t>
            </a:r>
          </a:p>
          <a:p>
            <a:pPr algn="ctr">
              <a:lnSpc>
                <a:spcPts val="4014"/>
              </a:lnSpc>
            </a:pPr>
            <a:r>
              <a:rPr lang="en-US" sz="3490">
                <a:solidFill>
                  <a:srgbClr val="000000"/>
                </a:solidFill>
                <a:latin typeface="Ansam"/>
              </a:rPr>
              <a:t>2.      Resource Allocation: The system assists in allocating resources such as medical equipment, and medications based on patient needs and availability.</a:t>
            </a:r>
          </a:p>
          <a:p>
            <a:pPr algn="ctr">
              <a:lnSpc>
                <a:spcPts val="4014"/>
              </a:lnSpc>
            </a:pPr>
            <a:r>
              <a:rPr lang="en-US" sz="3490">
                <a:solidFill>
                  <a:srgbClr val="000000"/>
                </a:solidFill>
                <a:latin typeface="Ansam"/>
              </a:rPr>
              <a:t>3.      Appointment Scheduling: RHUMS streamlines appointment scheduling processes, ensuring timely access to healthcare services whileoptimizing healthcare provider schedules.</a:t>
            </a:r>
          </a:p>
          <a:p>
            <a:pPr algn="ctr">
              <a:lnSpc>
                <a:spcPts val="4014"/>
              </a:lnSpc>
            </a:pPr>
            <a:r>
              <a:rPr lang="en-US" sz="3490">
                <a:solidFill>
                  <a:srgbClr val="000000"/>
                </a:solidFill>
                <a:latin typeface="Ansam"/>
              </a:rPr>
              <a:t>4.      Inventory Management: The system enables effective management of medical suppliesand equipment, tracking inventory levels, expiration dates, and restocking needs.</a:t>
            </a:r>
          </a:p>
          <a:p>
            <a:pPr algn="ctr">
              <a:lnSpc>
                <a:spcPts val="4014"/>
              </a:lnSpc>
            </a:pPr>
            <a:r>
              <a:rPr lang="en-US" sz="3490">
                <a:solidFill>
                  <a:srgbClr val="000000"/>
                </a:solidFill>
                <a:latin typeface="Ansam"/>
              </a:rPr>
              <a:t>5.      Communication: RHUMS facilitates communication within the rural health unit, including internalmessaging systems and notifications for appointments, events, and medication refills.</a:t>
            </a:r>
          </a:p>
          <a:p>
            <a:pPr algn="ctr">
              <a:lnSpc>
                <a:spcPts val="4014"/>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SUMMARY</a:t>
            </a:r>
          </a:p>
        </p:txBody>
      </p:sp>
      <p:sp>
        <p:nvSpPr>
          <p:cNvPr name="TextBox 6" id="6"/>
          <p:cNvSpPr txBox="true"/>
          <p:nvPr/>
        </p:nvSpPr>
        <p:spPr>
          <a:xfrm rot="0">
            <a:off x="1061991" y="2676203"/>
            <a:ext cx="15936943" cy="5871785"/>
          </a:xfrm>
          <a:prstGeom prst="rect">
            <a:avLst/>
          </a:prstGeom>
        </p:spPr>
        <p:txBody>
          <a:bodyPr anchor="t" rtlCol="false" tIns="0" lIns="0" bIns="0" rIns="0">
            <a:spAutoFit/>
          </a:bodyPr>
          <a:lstStyle/>
          <a:p>
            <a:pPr algn="ctr">
              <a:lnSpc>
                <a:spcPts val="4244"/>
              </a:lnSpc>
              <a:spcBef>
                <a:spcPct val="0"/>
              </a:spcBef>
            </a:pPr>
            <a:r>
              <a:rPr lang="en-US" sz="3690">
                <a:solidFill>
                  <a:srgbClr val="000000"/>
                </a:solidFill>
                <a:latin typeface="Ansam"/>
              </a:rPr>
              <a:t>The Rural Health Unit Management System (RHUMS) is a versatile platform designed to enhance healthcare delivery and administration in rural areas. It efficiently manages patient appointments, medical records, and medicine inventory, streamlining administrative tasks. Additionally, it aids in effective resource allocation by optimizing medical supplies and equipment. RHUMS also fosters communication among healthcare staff and patients through messaging systems and appointment notifications, leading to improved patient engagement and satisfaction. Overall, RHUMS enhances operational efficiency, resource management, and communication within rural health units, thereby improving healthcare outcomes for underserved populations.</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CONCLUSION</a:t>
            </a:r>
          </a:p>
        </p:txBody>
      </p:sp>
      <p:sp>
        <p:nvSpPr>
          <p:cNvPr name="TextBox 6" id="6"/>
          <p:cNvSpPr txBox="true"/>
          <p:nvPr/>
        </p:nvSpPr>
        <p:spPr>
          <a:xfrm rot="0">
            <a:off x="1061991" y="2676203"/>
            <a:ext cx="15936943" cy="5871785"/>
          </a:xfrm>
          <a:prstGeom prst="rect">
            <a:avLst/>
          </a:prstGeom>
        </p:spPr>
        <p:txBody>
          <a:bodyPr anchor="t" rtlCol="false" tIns="0" lIns="0" bIns="0" rIns="0">
            <a:spAutoFit/>
          </a:bodyPr>
          <a:lstStyle/>
          <a:p>
            <a:pPr algn="ctr">
              <a:lnSpc>
                <a:spcPts val="4244"/>
              </a:lnSpc>
              <a:spcBef>
                <a:spcPct val="0"/>
              </a:spcBef>
            </a:pPr>
            <a:r>
              <a:rPr lang="en-US" sz="3690">
                <a:solidFill>
                  <a:srgbClr val="000000"/>
                </a:solidFill>
                <a:latin typeface="Ansam"/>
              </a:rPr>
              <a:t>In conclusion, the Rural Health Unit Management System (RHUMS) is crucial for optimizing healthcare delivery in rural areas despite facing challenges. It focuses on improving patient care, administrative efficiency, and resource allocation within rural health units. To overcome obstacles like inadequate communication and adapt to changing healthcare landscapes, RHUMS needs strategic alignment with healthcare objectives and flexibility in design and processes. Encouraging collaboration among healthcare professionals is vital for seamless coordination of patient care. RHUMS should evolve as a dynamic component of rural healthcare management, continuously refining its functions to meet evolving needs and improve healthcare outcomes in underserved regions.</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RECOMMENDATIONS</a:t>
            </a:r>
          </a:p>
        </p:txBody>
      </p:sp>
      <p:sp>
        <p:nvSpPr>
          <p:cNvPr name="TextBox 6" id="6"/>
          <p:cNvSpPr txBox="true"/>
          <p:nvPr/>
        </p:nvSpPr>
        <p:spPr>
          <a:xfrm rot="0">
            <a:off x="1061991" y="2771675"/>
            <a:ext cx="15936943" cy="6081970"/>
          </a:xfrm>
          <a:prstGeom prst="rect">
            <a:avLst/>
          </a:prstGeom>
        </p:spPr>
        <p:txBody>
          <a:bodyPr anchor="t" rtlCol="false" tIns="0" lIns="0" bIns="0" rIns="0">
            <a:spAutoFit/>
          </a:bodyPr>
          <a:lstStyle/>
          <a:p>
            <a:pPr algn="ctr">
              <a:lnSpc>
                <a:spcPts val="4359"/>
              </a:lnSpc>
            </a:pPr>
            <a:r>
              <a:rPr lang="en-US" sz="3790">
                <a:solidFill>
                  <a:srgbClr val="000000"/>
                </a:solidFill>
                <a:latin typeface="Ansam"/>
              </a:rPr>
              <a:t>Managing health records and forecasting healthcare needs have historicallybeen perceived as daunting tasksin healthcare. The</a:t>
            </a:r>
          </a:p>
          <a:p>
            <a:pPr algn="ctr">
              <a:lnSpc>
                <a:spcPts val="4359"/>
              </a:lnSpc>
            </a:pPr>
          </a:p>
          <a:p>
            <a:pPr algn="ctr">
              <a:lnSpc>
                <a:spcPts val="4359"/>
              </a:lnSpc>
            </a:pPr>
            <a:r>
              <a:rPr lang="en-US" sz="3790">
                <a:solidFill>
                  <a:srgbClr val="000000"/>
                </a:solidFill>
                <a:latin typeface="Ansam"/>
              </a:rPr>
              <a:t>excitement and passion felt in providing quality healthcare can diminish when healthcare providers are faced with the challenge of managing patient data and predicting future healthcare demands. However, despite the complexity, efficient management of health records and accurate forecasting of healthcare needs are crucial for ensuring the well-being of patients and the effectiveness of healthcare delivery in rural areas.</a:t>
            </a:r>
          </a:p>
          <a:p>
            <a:pPr algn="ctr">
              <a:lnSpc>
                <a:spcPts val="4359"/>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RECOMMENDATIONS</a:t>
            </a:r>
          </a:p>
        </p:txBody>
      </p:sp>
      <p:sp>
        <p:nvSpPr>
          <p:cNvPr name="TextBox 6" id="6"/>
          <p:cNvSpPr txBox="true"/>
          <p:nvPr/>
        </p:nvSpPr>
        <p:spPr>
          <a:xfrm rot="0">
            <a:off x="1061991" y="3123560"/>
            <a:ext cx="15936943" cy="4977070"/>
          </a:xfrm>
          <a:prstGeom prst="rect">
            <a:avLst/>
          </a:prstGeom>
        </p:spPr>
        <p:txBody>
          <a:bodyPr anchor="t" rtlCol="false" tIns="0" lIns="0" bIns="0" rIns="0">
            <a:spAutoFit/>
          </a:bodyPr>
          <a:lstStyle/>
          <a:p>
            <a:pPr algn="ctr">
              <a:lnSpc>
                <a:spcPts val="4359"/>
              </a:lnSpc>
            </a:pPr>
            <a:r>
              <a:rPr lang="en-US" sz="3790">
                <a:solidFill>
                  <a:srgbClr val="000000"/>
                </a:solidFill>
                <a:latin typeface="Ansam"/>
              </a:rPr>
              <a:t>Recommendations for Improved Health Outcomes:</a:t>
            </a:r>
          </a:p>
          <a:p>
            <a:pPr algn="ctr">
              <a:lnSpc>
                <a:spcPts val="4359"/>
              </a:lnSpc>
            </a:pPr>
          </a:p>
          <a:p>
            <a:pPr algn="ctr">
              <a:lnSpc>
                <a:spcPts val="4359"/>
              </a:lnSpc>
            </a:pPr>
            <a:r>
              <a:rPr lang="en-US" sz="3790">
                <a:solidFill>
                  <a:srgbClr val="000000"/>
                </a:solidFill>
                <a:latin typeface="Ansam"/>
              </a:rPr>
              <a:t>1.      Prioritize Preventive Care: Regular check-ups, screenings, and vaccinations are essential for maintaining good health and preventing the onset of diseases. Individuals should prioritize preventive care by scheduling routine appointments with healthcare providers and following recommended guidelines for screenings and immunizations based on their age, gender, and medical history.</a:t>
            </a:r>
          </a:p>
          <a:p>
            <a:pPr algn="ctr">
              <a:lnSpc>
                <a:spcPts val="4359"/>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RECOMMENDATIONS</a:t>
            </a:r>
          </a:p>
        </p:txBody>
      </p:sp>
      <p:sp>
        <p:nvSpPr>
          <p:cNvPr name="TextBox 6" id="6"/>
          <p:cNvSpPr txBox="true"/>
          <p:nvPr/>
        </p:nvSpPr>
        <p:spPr>
          <a:xfrm rot="0">
            <a:off x="1061991" y="3123560"/>
            <a:ext cx="15936943" cy="6081970"/>
          </a:xfrm>
          <a:prstGeom prst="rect">
            <a:avLst/>
          </a:prstGeom>
        </p:spPr>
        <p:txBody>
          <a:bodyPr anchor="t" rtlCol="false" tIns="0" lIns="0" bIns="0" rIns="0">
            <a:spAutoFit/>
          </a:bodyPr>
          <a:lstStyle/>
          <a:p>
            <a:pPr algn="ctr">
              <a:lnSpc>
                <a:spcPts val="4359"/>
              </a:lnSpc>
            </a:pPr>
            <a:r>
              <a:rPr lang="en-US" sz="3790">
                <a:solidFill>
                  <a:srgbClr val="000000"/>
                </a:solidFill>
                <a:latin typeface="Ansam"/>
              </a:rPr>
              <a:t>Recommendations for Improved Health Outcomes:</a:t>
            </a:r>
          </a:p>
          <a:p>
            <a:pPr algn="ctr">
              <a:lnSpc>
                <a:spcPts val="4359"/>
              </a:lnSpc>
            </a:pPr>
          </a:p>
          <a:p>
            <a:pPr algn="ctr">
              <a:lnSpc>
                <a:spcPts val="4359"/>
              </a:lnSpc>
            </a:pPr>
            <a:r>
              <a:rPr lang="en-US" sz="3790">
                <a:solidFill>
                  <a:srgbClr val="000000"/>
                </a:solidFill>
                <a:latin typeface="Ansam"/>
              </a:rPr>
              <a:t>2.      Adopt Healthy Lifestyle Behaviors: Healthy lifestyle choices, including regular exercise, balanced nutrition, adequate sleep, stress management, and avoidance of harmful substances like tobacco and excessive alcohol, play a significant role in promoting overall health and well-being. Individuals should strive to adopt and maintain healthy habits to reduce the risk of chronic diseases and improve their quality of life.</a:t>
            </a:r>
          </a:p>
          <a:p>
            <a:pPr algn="ctr">
              <a:lnSpc>
                <a:spcPts val="4359"/>
              </a:lnSpc>
            </a:pPr>
          </a:p>
          <a:p>
            <a:pPr algn="ctr">
              <a:lnSpc>
                <a:spcPts val="4359"/>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RECOMMENDATIONS</a:t>
            </a:r>
          </a:p>
        </p:txBody>
      </p:sp>
      <p:sp>
        <p:nvSpPr>
          <p:cNvPr name="TextBox 6" id="6"/>
          <p:cNvSpPr txBox="true"/>
          <p:nvPr/>
        </p:nvSpPr>
        <p:spPr>
          <a:xfrm rot="0">
            <a:off x="1061991" y="3123560"/>
            <a:ext cx="15936943" cy="6081970"/>
          </a:xfrm>
          <a:prstGeom prst="rect">
            <a:avLst/>
          </a:prstGeom>
        </p:spPr>
        <p:txBody>
          <a:bodyPr anchor="t" rtlCol="false" tIns="0" lIns="0" bIns="0" rIns="0">
            <a:spAutoFit/>
          </a:bodyPr>
          <a:lstStyle/>
          <a:p>
            <a:pPr algn="ctr">
              <a:lnSpc>
                <a:spcPts val="4359"/>
              </a:lnSpc>
            </a:pPr>
            <a:r>
              <a:rPr lang="en-US" sz="3790">
                <a:solidFill>
                  <a:srgbClr val="000000"/>
                </a:solidFill>
                <a:latin typeface="Ansam"/>
              </a:rPr>
              <a:t>Recommendations for Improved Health Outcomes:</a:t>
            </a:r>
          </a:p>
          <a:p>
            <a:pPr algn="ctr">
              <a:lnSpc>
                <a:spcPts val="4359"/>
              </a:lnSpc>
            </a:pPr>
          </a:p>
          <a:p>
            <a:pPr algn="ctr">
              <a:lnSpc>
                <a:spcPts val="4359"/>
              </a:lnSpc>
            </a:pPr>
            <a:r>
              <a:rPr lang="en-US" sz="3790">
                <a:solidFill>
                  <a:srgbClr val="000000"/>
                </a:solidFill>
                <a:latin typeface="Ansam"/>
              </a:rPr>
              <a:t>3.      Stay Informed and Educated: Health literacy is crucial for making informed decisions about healthcare and managing chronic conditions effectively. Individuals should actively seek out reliable sources of health information, ask questions, and engage in health education programs to enhance their understanding of medical conditions, treatment options, and preventive measures.</a:t>
            </a:r>
          </a:p>
          <a:p>
            <a:pPr algn="ctr">
              <a:lnSpc>
                <a:spcPts val="4359"/>
              </a:lnSpc>
            </a:pPr>
          </a:p>
          <a:p>
            <a:pPr algn="ctr">
              <a:lnSpc>
                <a:spcPts val="4359"/>
              </a:lnSpc>
            </a:pPr>
          </a:p>
          <a:p>
            <a:pPr algn="ctr">
              <a:lnSpc>
                <a:spcPts val="4359"/>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RECOMMENDATIONS</a:t>
            </a:r>
          </a:p>
        </p:txBody>
      </p:sp>
      <p:sp>
        <p:nvSpPr>
          <p:cNvPr name="TextBox 6" id="6"/>
          <p:cNvSpPr txBox="true"/>
          <p:nvPr/>
        </p:nvSpPr>
        <p:spPr>
          <a:xfrm rot="0">
            <a:off x="1061991" y="3123560"/>
            <a:ext cx="15936943" cy="6634420"/>
          </a:xfrm>
          <a:prstGeom prst="rect">
            <a:avLst/>
          </a:prstGeom>
        </p:spPr>
        <p:txBody>
          <a:bodyPr anchor="t" rtlCol="false" tIns="0" lIns="0" bIns="0" rIns="0">
            <a:spAutoFit/>
          </a:bodyPr>
          <a:lstStyle/>
          <a:p>
            <a:pPr algn="ctr">
              <a:lnSpc>
                <a:spcPts val="4359"/>
              </a:lnSpc>
            </a:pPr>
            <a:r>
              <a:rPr lang="en-US" sz="3790">
                <a:solidFill>
                  <a:srgbClr val="000000"/>
                </a:solidFill>
                <a:latin typeface="Ansam"/>
              </a:rPr>
              <a:t>Recommendations for Improved Health Outcomes:</a:t>
            </a:r>
          </a:p>
          <a:p>
            <a:pPr algn="ctr">
              <a:lnSpc>
                <a:spcPts val="4359"/>
              </a:lnSpc>
            </a:pPr>
          </a:p>
          <a:p>
            <a:pPr algn="ctr">
              <a:lnSpc>
                <a:spcPts val="4359"/>
              </a:lnSpc>
            </a:pPr>
            <a:r>
              <a:rPr lang="en-US" sz="3790">
                <a:solidFill>
                  <a:srgbClr val="000000"/>
                </a:solidFill>
                <a:latin typeface="Ansam"/>
              </a:rPr>
              <a:t>4.      Build Strong Relationships with Healthcare Providers: Establishing a trusting and collaborative relationship with healthcare providers is essential for receiving personalized care and support. Individuals should communicate openly with their healthcare team, share relevant health information, and actively participate in shared decision-making processes regarding their treatment plans and goals.</a:t>
            </a:r>
          </a:p>
          <a:p>
            <a:pPr algn="ctr">
              <a:lnSpc>
                <a:spcPts val="4359"/>
              </a:lnSpc>
            </a:pPr>
          </a:p>
          <a:p>
            <a:pPr algn="ctr">
              <a:lnSpc>
                <a:spcPts val="4359"/>
              </a:lnSpc>
            </a:pPr>
          </a:p>
          <a:p>
            <a:pPr algn="ctr">
              <a:lnSpc>
                <a:spcPts val="4359"/>
              </a:lnSpc>
            </a:pPr>
          </a:p>
          <a:p>
            <a:pPr algn="ctr">
              <a:lnSpc>
                <a:spcPts val="4359"/>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RECOMMENDATIONS</a:t>
            </a:r>
          </a:p>
        </p:txBody>
      </p:sp>
      <p:sp>
        <p:nvSpPr>
          <p:cNvPr name="TextBox 6" id="6"/>
          <p:cNvSpPr txBox="true"/>
          <p:nvPr/>
        </p:nvSpPr>
        <p:spPr>
          <a:xfrm rot="0">
            <a:off x="1061991" y="3123560"/>
            <a:ext cx="15936943" cy="7739320"/>
          </a:xfrm>
          <a:prstGeom prst="rect">
            <a:avLst/>
          </a:prstGeom>
        </p:spPr>
        <p:txBody>
          <a:bodyPr anchor="t" rtlCol="false" tIns="0" lIns="0" bIns="0" rIns="0">
            <a:spAutoFit/>
          </a:bodyPr>
          <a:lstStyle/>
          <a:p>
            <a:pPr algn="ctr">
              <a:lnSpc>
                <a:spcPts val="4359"/>
              </a:lnSpc>
            </a:pPr>
            <a:r>
              <a:rPr lang="en-US" sz="3790">
                <a:solidFill>
                  <a:srgbClr val="000000"/>
                </a:solidFill>
                <a:latin typeface="Ansam"/>
              </a:rPr>
              <a:t>Recommendations for Improved Health Outcomes:</a:t>
            </a:r>
          </a:p>
          <a:p>
            <a:pPr algn="ctr">
              <a:lnSpc>
                <a:spcPts val="4359"/>
              </a:lnSpc>
            </a:pPr>
          </a:p>
          <a:p>
            <a:pPr algn="ctr">
              <a:lnSpc>
                <a:spcPts val="4359"/>
              </a:lnSpc>
            </a:pPr>
            <a:r>
              <a:rPr lang="en-US" sz="3790">
                <a:solidFill>
                  <a:srgbClr val="000000"/>
                </a:solidFill>
                <a:latin typeface="Ansam"/>
              </a:rPr>
              <a:t>5.      Monitor Health Metrics and Track Progress: Regular monitoring of health metrics such as blood pressure, blood sugar levels, cholesterol levels, and weight can help individuals track their progress towards health goals and identify any potential health concerns early on. Utilizing tools such as health apps, wearable devices, or health diaries can facilitate self-monitoring and empower individuals to take proactive steps towards better health.</a:t>
            </a:r>
          </a:p>
          <a:p>
            <a:pPr algn="ctr">
              <a:lnSpc>
                <a:spcPts val="4359"/>
              </a:lnSpc>
            </a:pPr>
          </a:p>
          <a:p>
            <a:pPr algn="ctr">
              <a:lnSpc>
                <a:spcPts val="4359"/>
              </a:lnSpc>
            </a:pPr>
          </a:p>
          <a:p>
            <a:pPr algn="ctr">
              <a:lnSpc>
                <a:spcPts val="4359"/>
              </a:lnSpc>
            </a:pPr>
          </a:p>
          <a:p>
            <a:pPr algn="ctr">
              <a:lnSpc>
                <a:spcPts val="4359"/>
              </a:lnSpc>
            </a:pPr>
          </a:p>
          <a:p>
            <a:pPr algn="ctr">
              <a:lnSpc>
                <a:spcPts val="4359"/>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RECOMMENDATIONS</a:t>
            </a:r>
          </a:p>
        </p:txBody>
      </p:sp>
      <p:sp>
        <p:nvSpPr>
          <p:cNvPr name="TextBox 6" id="6"/>
          <p:cNvSpPr txBox="true"/>
          <p:nvPr/>
        </p:nvSpPr>
        <p:spPr>
          <a:xfrm rot="0">
            <a:off x="1061991" y="3123560"/>
            <a:ext cx="15936943" cy="7186870"/>
          </a:xfrm>
          <a:prstGeom prst="rect">
            <a:avLst/>
          </a:prstGeom>
        </p:spPr>
        <p:txBody>
          <a:bodyPr anchor="t" rtlCol="false" tIns="0" lIns="0" bIns="0" rIns="0">
            <a:spAutoFit/>
          </a:bodyPr>
          <a:lstStyle/>
          <a:p>
            <a:pPr algn="ctr">
              <a:lnSpc>
                <a:spcPts val="4359"/>
              </a:lnSpc>
            </a:pPr>
            <a:r>
              <a:rPr lang="en-US" sz="3790">
                <a:solidFill>
                  <a:srgbClr val="000000"/>
                </a:solidFill>
                <a:latin typeface="Ansam"/>
              </a:rPr>
              <a:t>Recommendations for Improved Health Outcomes:</a:t>
            </a:r>
          </a:p>
          <a:p>
            <a:pPr algn="ctr">
              <a:lnSpc>
                <a:spcPts val="4359"/>
              </a:lnSpc>
            </a:pPr>
          </a:p>
          <a:p>
            <a:pPr algn="ctr">
              <a:lnSpc>
                <a:spcPts val="4359"/>
              </a:lnSpc>
            </a:pPr>
            <a:r>
              <a:rPr lang="en-US" sz="3790">
                <a:solidFill>
                  <a:srgbClr val="000000"/>
                </a:solidFill>
                <a:latin typeface="Ansam"/>
              </a:rPr>
              <a:t>6.      Seek Timely Medical Attention: Prompt evaluation and treatment of symptoms or health concerns can prevent minor issues from escalating into more serious conditions. Individuals should seek timely medicalattention from healthcare providers when experiencing symptomsof illness or injury and adhere to recommended treatment plans to optimize recovery and prevent complications.</a:t>
            </a:r>
          </a:p>
          <a:p>
            <a:pPr algn="ctr">
              <a:lnSpc>
                <a:spcPts val="4359"/>
              </a:lnSpc>
            </a:pPr>
          </a:p>
          <a:p>
            <a:pPr algn="ctr">
              <a:lnSpc>
                <a:spcPts val="4359"/>
              </a:lnSpc>
            </a:pPr>
          </a:p>
          <a:p>
            <a:pPr algn="ctr">
              <a:lnSpc>
                <a:spcPts val="4359"/>
              </a:lnSpc>
            </a:pPr>
          </a:p>
          <a:p>
            <a:pPr algn="ctr">
              <a:lnSpc>
                <a:spcPts val="4359"/>
              </a:lnSpc>
            </a:pPr>
          </a:p>
          <a:p>
            <a:pPr algn="ctr">
              <a:lnSpc>
                <a:spcPts val="4359"/>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RECOMMENDATIONS</a:t>
            </a:r>
          </a:p>
        </p:txBody>
      </p:sp>
      <p:sp>
        <p:nvSpPr>
          <p:cNvPr name="TextBox 6" id="6"/>
          <p:cNvSpPr txBox="true"/>
          <p:nvPr/>
        </p:nvSpPr>
        <p:spPr>
          <a:xfrm rot="0">
            <a:off x="1061991" y="3123560"/>
            <a:ext cx="15936943" cy="7186870"/>
          </a:xfrm>
          <a:prstGeom prst="rect">
            <a:avLst/>
          </a:prstGeom>
        </p:spPr>
        <p:txBody>
          <a:bodyPr anchor="t" rtlCol="false" tIns="0" lIns="0" bIns="0" rIns="0">
            <a:spAutoFit/>
          </a:bodyPr>
          <a:lstStyle/>
          <a:p>
            <a:pPr algn="ctr">
              <a:lnSpc>
                <a:spcPts val="4359"/>
              </a:lnSpc>
            </a:pPr>
            <a:r>
              <a:rPr lang="en-US" sz="3790">
                <a:solidFill>
                  <a:srgbClr val="000000"/>
                </a:solidFill>
                <a:latin typeface="Ansam"/>
              </a:rPr>
              <a:t>Recommendations for Improved Health Outcomes:</a:t>
            </a:r>
          </a:p>
          <a:p>
            <a:pPr algn="ctr">
              <a:lnSpc>
                <a:spcPts val="4359"/>
              </a:lnSpc>
            </a:pPr>
          </a:p>
          <a:p>
            <a:pPr algn="ctr">
              <a:lnSpc>
                <a:spcPts val="4359"/>
              </a:lnSpc>
            </a:pPr>
            <a:r>
              <a:rPr lang="en-US" sz="3790">
                <a:solidFill>
                  <a:srgbClr val="000000"/>
                </a:solidFill>
                <a:latin typeface="Ansam"/>
              </a:rPr>
              <a:t>7.      Engage in Community Support Networks: Building connections with peers, support groups, and community resources can provide individuals with valuable social support, encouragement, and practical assistance in managing health challenges. Engaging in community-based activities, joining support groups, or participating in online forums can help individuals feel connected and supported on their health journey.</a:t>
            </a:r>
          </a:p>
          <a:p>
            <a:pPr algn="ctr">
              <a:lnSpc>
                <a:spcPts val="4359"/>
              </a:lnSpc>
            </a:pPr>
          </a:p>
          <a:p>
            <a:pPr algn="ctr">
              <a:lnSpc>
                <a:spcPts val="4359"/>
              </a:lnSpc>
            </a:pPr>
          </a:p>
          <a:p>
            <a:pPr algn="ctr">
              <a:lnSpc>
                <a:spcPts val="4359"/>
              </a:lnSpc>
            </a:pPr>
          </a:p>
          <a:p>
            <a:pPr algn="ctr">
              <a:lnSpc>
                <a:spcPts val="4359"/>
              </a:lnSpc>
            </a:pPr>
          </a:p>
          <a:p>
            <a:pPr algn="ctr">
              <a:lnSpc>
                <a:spcPts val="4359"/>
              </a:lnSpc>
              <a:spcBef>
                <a:spcPct val="0"/>
              </a:spcBef>
            </a:pP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RECOMMENDATIONS</a:t>
            </a:r>
          </a:p>
        </p:txBody>
      </p:sp>
      <p:sp>
        <p:nvSpPr>
          <p:cNvPr name="TextBox 6" id="6"/>
          <p:cNvSpPr txBox="true"/>
          <p:nvPr/>
        </p:nvSpPr>
        <p:spPr>
          <a:xfrm rot="0">
            <a:off x="1061991" y="3123560"/>
            <a:ext cx="15936943" cy="8291770"/>
          </a:xfrm>
          <a:prstGeom prst="rect">
            <a:avLst/>
          </a:prstGeom>
        </p:spPr>
        <p:txBody>
          <a:bodyPr anchor="t" rtlCol="false" tIns="0" lIns="0" bIns="0" rIns="0">
            <a:spAutoFit/>
          </a:bodyPr>
          <a:lstStyle/>
          <a:p>
            <a:pPr algn="ctr">
              <a:lnSpc>
                <a:spcPts val="4359"/>
              </a:lnSpc>
            </a:pPr>
            <a:r>
              <a:rPr lang="en-US" sz="3790">
                <a:solidFill>
                  <a:srgbClr val="000000"/>
                </a:solidFill>
                <a:latin typeface="Ansam"/>
              </a:rPr>
              <a:t>Recommendations for Improved Health Outcomes:</a:t>
            </a:r>
          </a:p>
          <a:p>
            <a:pPr algn="ctr">
              <a:lnSpc>
                <a:spcPts val="4359"/>
              </a:lnSpc>
            </a:pPr>
          </a:p>
          <a:p>
            <a:pPr algn="ctr">
              <a:lnSpc>
                <a:spcPts val="4359"/>
              </a:lnSpc>
            </a:pPr>
            <a:r>
              <a:rPr lang="en-US" sz="3790">
                <a:solidFill>
                  <a:srgbClr val="000000"/>
                </a:solidFill>
                <a:latin typeface="Ansam"/>
              </a:rPr>
              <a:t>8.      In conclusion, by prioritizing preventive care, adopting healthy lifestyle behaviors, staying informed and educated, building strong relationships with healthcare providers, monitoring health metrics, seeking timely medical attention, and engaging in community support networks, individuals can take proactive steps towards achieving better health outcomes and enhancing their overall well-being and quality of life.</a:t>
            </a:r>
          </a:p>
          <a:p>
            <a:pPr algn="ctr">
              <a:lnSpc>
                <a:spcPts val="4359"/>
              </a:lnSpc>
            </a:pPr>
          </a:p>
          <a:p>
            <a:pPr algn="ctr">
              <a:lnSpc>
                <a:spcPts val="4359"/>
              </a:lnSpc>
            </a:pPr>
          </a:p>
          <a:p>
            <a:pPr algn="ctr">
              <a:lnSpc>
                <a:spcPts val="4359"/>
              </a:lnSpc>
            </a:pPr>
          </a:p>
          <a:p>
            <a:pPr algn="ctr">
              <a:lnSpc>
                <a:spcPts val="4359"/>
              </a:lnSpc>
            </a:pPr>
          </a:p>
          <a:p>
            <a:pPr algn="ctr">
              <a:lnSpc>
                <a:spcPts val="4359"/>
              </a:lnSpc>
            </a:pPr>
          </a:p>
          <a:p>
            <a:pPr algn="ctr">
              <a:lnSpc>
                <a:spcPts val="4359"/>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ACKNOWLEDGMENTS</a:t>
            </a:r>
          </a:p>
        </p:txBody>
      </p:sp>
      <p:sp>
        <p:nvSpPr>
          <p:cNvPr name="TextBox 6" id="6"/>
          <p:cNvSpPr txBox="true"/>
          <p:nvPr/>
        </p:nvSpPr>
        <p:spPr>
          <a:xfrm rot="0">
            <a:off x="1061991" y="3123560"/>
            <a:ext cx="15936943" cy="5529520"/>
          </a:xfrm>
          <a:prstGeom prst="rect">
            <a:avLst/>
          </a:prstGeom>
        </p:spPr>
        <p:txBody>
          <a:bodyPr anchor="t" rtlCol="false" tIns="0" lIns="0" bIns="0" rIns="0">
            <a:spAutoFit/>
          </a:bodyPr>
          <a:lstStyle/>
          <a:p>
            <a:pPr algn="ctr">
              <a:lnSpc>
                <a:spcPts val="4359"/>
              </a:lnSpc>
            </a:pPr>
            <a:r>
              <a:rPr lang="en-US" sz="3790">
                <a:solidFill>
                  <a:srgbClr val="000000"/>
                </a:solidFill>
                <a:latin typeface="Ansam"/>
              </a:rPr>
              <a:t>I extend my heartfelt thanks to Marie Del Rosario and Menard Dane Macabulos for their invaluable support and assistance during the course of this project. Their dedication, insights, and contributions have played a significant role in shaping the outcomes of this endeavor. Their willingness to offer guidance, share expertise, and provide feedback have been instrumental in navigating the challenges encountered along the way. I am truly grateful for their unwavering support and encouragement, which have greatly contributed to the successful completion of this project.</a:t>
            </a:r>
          </a:p>
          <a:p>
            <a:pPr algn="ctr">
              <a:lnSpc>
                <a:spcPts val="4359"/>
              </a:lnSpc>
              <a:spcBef>
                <a:spcPct val="0"/>
              </a:spcBef>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E8E6E2"/>
        </a:solidFill>
      </p:bgPr>
    </p:bg>
    <p:spTree>
      <p:nvGrpSpPr>
        <p:cNvPr id="1" name=""/>
        <p:cNvGrpSpPr/>
        <p:nvPr/>
      </p:nvGrpSpPr>
      <p:grpSpPr>
        <a:xfrm>
          <a:off x="0" y="0"/>
          <a:ext cx="0" cy="0"/>
          <a:chOff x="0" y="0"/>
          <a:chExt cx="0" cy="0"/>
        </a:xfrm>
      </p:grpSpPr>
      <p:grpSp>
        <p:nvGrpSpPr>
          <p:cNvPr name="Group 2" id="2"/>
          <p:cNvGrpSpPr/>
          <p:nvPr/>
        </p:nvGrpSpPr>
        <p:grpSpPr>
          <a:xfrm rot="0">
            <a:off x="801626" y="1946840"/>
            <a:ext cx="16457674" cy="7311460"/>
            <a:chOff x="0" y="0"/>
            <a:chExt cx="4334531" cy="1925652"/>
          </a:xfrm>
        </p:grpSpPr>
        <p:sp>
          <p:nvSpPr>
            <p:cNvPr name="Freeform 3" id="3"/>
            <p:cNvSpPr/>
            <p:nvPr/>
          </p:nvSpPr>
          <p:spPr>
            <a:xfrm flipH="false" flipV="false" rot="0">
              <a:off x="0" y="0"/>
              <a:ext cx="4334532" cy="1925652"/>
            </a:xfrm>
            <a:custGeom>
              <a:avLst/>
              <a:gdLst/>
              <a:ahLst/>
              <a:cxnLst/>
              <a:rect r="r" b="b" t="t" l="l"/>
              <a:pathLst>
                <a:path h="1925652" w="4334532">
                  <a:moveTo>
                    <a:pt x="23991" y="0"/>
                  </a:moveTo>
                  <a:lnTo>
                    <a:pt x="4310540" y="0"/>
                  </a:lnTo>
                  <a:cubicBezTo>
                    <a:pt x="4316903" y="0"/>
                    <a:pt x="4323006" y="2528"/>
                    <a:pt x="4327505" y="7027"/>
                  </a:cubicBezTo>
                  <a:cubicBezTo>
                    <a:pt x="4332004" y="11526"/>
                    <a:pt x="4334532" y="17628"/>
                    <a:pt x="4334532" y="23991"/>
                  </a:cubicBezTo>
                  <a:lnTo>
                    <a:pt x="4334532" y="1901661"/>
                  </a:lnTo>
                  <a:cubicBezTo>
                    <a:pt x="4334532" y="1914911"/>
                    <a:pt x="4323790" y="1925652"/>
                    <a:pt x="4310540" y="1925652"/>
                  </a:cubicBezTo>
                  <a:lnTo>
                    <a:pt x="23991" y="1925652"/>
                  </a:lnTo>
                  <a:cubicBezTo>
                    <a:pt x="17628" y="1925652"/>
                    <a:pt x="11526" y="1923124"/>
                    <a:pt x="7027" y="1918625"/>
                  </a:cubicBezTo>
                  <a:cubicBezTo>
                    <a:pt x="2528" y="1914126"/>
                    <a:pt x="0" y="1908024"/>
                    <a:pt x="0" y="1901661"/>
                  </a:cubicBezTo>
                  <a:lnTo>
                    <a:pt x="0" y="23991"/>
                  </a:lnTo>
                  <a:cubicBezTo>
                    <a:pt x="0" y="17628"/>
                    <a:pt x="2528" y="11526"/>
                    <a:pt x="7027" y="7027"/>
                  </a:cubicBezTo>
                  <a:cubicBezTo>
                    <a:pt x="11526" y="2528"/>
                    <a:pt x="17628" y="0"/>
                    <a:pt x="23991" y="0"/>
                  </a:cubicBezTo>
                  <a:close/>
                </a:path>
              </a:pathLst>
            </a:custGeom>
            <a:solidFill>
              <a:srgbClr val="000000">
                <a:alpha val="0"/>
              </a:srgbClr>
            </a:solidFill>
            <a:ln w="19050" cap="rnd">
              <a:solidFill>
                <a:srgbClr val="596548"/>
              </a:solidFill>
              <a:prstDash val="solid"/>
              <a:round/>
            </a:ln>
          </p:spPr>
        </p:sp>
        <p:sp>
          <p:nvSpPr>
            <p:cNvPr name="TextBox 4" id="4"/>
            <p:cNvSpPr txBox="true"/>
            <p:nvPr/>
          </p:nvSpPr>
          <p:spPr>
            <a:xfrm>
              <a:off x="0" y="-38100"/>
              <a:ext cx="4334531" cy="19637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0037" y="480294"/>
            <a:ext cx="18808073" cy="1134912"/>
          </a:xfrm>
          <a:prstGeom prst="rect">
            <a:avLst/>
          </a:prstGeom>
        </p:spPr>
        <p:txBody>
          <a:bodyPr anchor="t" rtlCol="false" tIns="0" lIns="0" bIns="0" rIns="0">
            <a:spAutoFit/>
          </a:bodyPr>
          <a:lstStyle/>
          <a:p>
            <a:pPr algn="ctr">
              <a:lnSpc>
                <a:spcPts val="8885"/>
              </a:lnSpc>
            </a:pPr>
            <a:r>
              <a:rPr lang="en-US" sz="7726">
                <a:solidFill>
                  <a:srgbClr val="000000"/>
                </a:solidFill>
                <a:latin typeface="Ansam"/>
              </a:rPr>
              <a:t>REFERENCES</a:t>
            </a:r>
          </a:p>
        </p:txBody>
      </p:sp>
      <p:sp>
        <p:nvSpPr>
          <p:cNvPr name="TextBox 6" id="6"/>
          <p:cNvSpPr txBox="true"/>
          <p:nvPr/>
        </p:nvSpPr>
        <p:spPr>
          <a:xfrm rot="0">
            <a:off x="1061991" y="3123560"/>
            <a:ext cx="15936943" cy="1109920"/>
          </a:xfrm>
          <a:prstGeom prst="rect">
            <a:avLst/>
          </a:prstGeom>
        </p:spPr>
        <p:txBody>
          <a:bodyPr anchor="t" rtlCol="false" tIns="0" lIns="0" bIns="0" rIns="0">
            <a:spAutoFit/>
          </a:bodyPr>
          <a:lstStyle/>
          <a:p>
            <a:pPr algn="ctr">
              <a:lnSpc>
                <a:spcPts val="4359"/>
              </a:lnSpc>
            </a:pPr>
            <a:r>
              <a:rPr lang="en-US" sz="3790">
                <a:solidFill>
                  <a:srgbClr val="000000"/>
                </a:solidFill>
                <a:latin typeface="Ansam"/>
              </a:rPr>
              <a:t>[1] </a:t>
            </a:r>
            <a:r>
              <a:rPr lang="en-US" sz="3790" u="sng">
                <a:solidFill>
                  <a:srgbClr val="000000"/>
                </a:solidFill>
                <a:latin typeface="Ansam"/>
                <a:hlinkClick r:id="rId2" tooltip="https://lgustamaria-pangasinan.com/health/"/>
              </a:rPr>
              <a:t>https://lgustamaria-pangasinan.com/health/</a:t>
            </a:r>
          </a:p>
          <a:p>
            <a:pPr algn="ctr">
              <a:lnSpc>
                <a:spcPts val="435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DAGBSfMurgY</dc:identifier>
  <dcterms:modified xsi:type="dcterms:W3CDTF">2011-08-01T06:04:30Z</dcterms:modified>
  <cp:revision>1</cp:revision>
  <dc:title>Beige Green Aesthetic Minimalist Thesis Defense Presentation</dc:title>
</cp:coreProperties>
</file>